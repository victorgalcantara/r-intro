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34"/>
  </p:notesMasterIdLst>
  <p:sldIdLst>
    <p:sldId id="256" r:id="rId2"/>
    <p:sldId id="280" r:id="rId3"/>
    <p:sldId id="288" r:id="rId4"/>
    <p:sldId id="301" r:id="rId5"/>
    <p:sldId id="304" r:id="rId6"/>
    <p:sldId id="269" r:id="rId7"/>
    <p:sldId id="308" r:id="rId8"/>
    <p:sldId id="267" r:id="rId9"/>
    <p:sldId id="268" r:id="rId10"/>
    <p:sldId id="307" r:id="rId11"/>
    <p:sldId id="293" r:id="rId12"/>
    <p:sldId id="300" r:id="rId13"/>
    <p:sldId id="270" r:id="rId14"/>
    <p:sldId id="271" r:id="rId15"/>
    <p:sldId id="309" r:id="rId16"/>
    <p:sldId id="310" r:id="rId17"/>
    <p:sldId id="316" r:id="rId18"/>
    <p:sldId id="314" r:id="rId19"/>
    <p:sldId id="315" r:id="rId20"/>
    <p:sldId id="317" r:id="rId21"/>
    <p:sldId id="318" r:id="rId22"/>
    <p:sldId id="311" r:id="rId23"/>
    <p:sldId id="313" r:id="rId24"/>
    <p:sldId id="312" r:id="rId25"/>
    <p:sldId id="289" r:id="rId26"/>
    <p:sldId id="279" r:id="rId27"/>
    <p:sldId id="299" r:id="rId28"/>
    <p:sldId id="274" r:id="rId29"/>
    <p:sldId id="295" r:id="rId30"/>
    <p:sldId id="296" r:id="rId31"/>
    <p:sldId id="297" r:id="rId32"/>
    <p:sldId id="298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2D3B14-ADE3-4258-8B29-3CAFC9376231}" v="32" dt="2026-03-18T21:54:06.3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Gabriel Alcantara" userId="b8504b24e89a4ddd" providerId="LiveId" clId="{ED6E6489-7319-44DF-8A7B-F332FE07A027}"/>
    <pc:docChg chg="undo custSel addSld delSld modSld sldOrd">
      <pc:chgData name="Victor Gabriel Alcantara" userId="b8504b24e89a4ddd" providerId="LiveId" clId="{ED6E6489-7319-44DF-8A7B-F332FE07A027}" dt="2026-03-18T22:11:53.864" v="874" actId="20577"/>
      <pc:docMkLst>
        <pc:docMk/>
      </pc:docMkLst>
      <pc:sldChg chg="modSp mod">
        <pc:chgData name="Victor Gabriel Alcantara" userId="b8504b24e89a4ddd" providerId="LiveId" clId="{ED6E6489-7319-44DF-8A7B-F332FE07A027}" dt="2026-03-18T22:11:53.864" v="874" actId="20577"/>
        <pc:sldMkLst>
          <pc:docMk/>
          <pc:sldMk cId="2513517983" sldId="256"/>
        </pc:sldMkLst>
        <pc:spChg chg="mod">
          <ac:chgData name="Victor Gabriel Alcantara" userId="b8504b24e89a4ddd" providerId="LiveId" clId="{ED6E6489-7319-44DF-8A7B-F332FE07A027}" dt="2026-03-18T22:11:53.864" v="874" actId="20577"/>
          <ac:spMkLst>
            <pc:docMk/>
            <pc:sldMk cId="2513517983" sldId="256"/>
            <ac:spMk id="3" creationId="{3205C363-35B1-A875-05BA-F5A72581258A}"/>
          </ac:spMkLst>
        </pc:spChg>
      </pc:sldChg>
      <pc:sldChg chg="add">
        <pc:chgData name="Victor Gabriel Alcantara" userId="b8504b24e89a4ddd" providerId="LiveId" clId="{ED6E6489-7319-44DF-8A7B-F332FE07A027}" dt="2026-03-18T21:15:41.039" v="0"/>
        <pc:sldMkLst>
          <pc:docMk/>
          <pc:sldMk cId="0" sldId="267"/>
        </pc:sldMkLst>
      </pc:sldChg>
      <pc:sldChg chg="add">
        <pc:chgData name="Victor Gabriel Alcantara" userId="b8504b24e89a4ddd" providerId="LiveId" clId="{ED6E6489-7319-44DF-8A7B-F332FE07A027}" dt="2026-03-18T21:15:41.039" v="0"/>
        <pc:sldMkLst>
          <pc:docMk/>
          <pc:sldMk cId="0" sldId="268"/>
        </pc:sldMkLst>
      </pc:sldChg>
      <pc:sldChg chg="add">
        <pc:chgData name="Victor Gabriel Alcantara" userId="b8504b24e89a4ddd" providerId="LiveId" clId="{ED6E6489-7319-44DF-8A7B-F332FE07A027}" dt="2026-03-18T21:15:41.039" v="0"/>
        <pc:sldMkLst>
          <pc:docMk/>
          <pc:sldMk cId="0" sldId="269"/>
        </pc:sldMkLst>
      </pc:sldChg>
      <pc:sldChg chg="add">
        <pc:chgData name="Victor Gabriel Alcantara" userId="b8504b24e89a4ddd" providerId="LiveId" clId="{ED6E6489-7319-44DF-8A7B-F332FE07A027}" dt="2026-03-18T21:17:08.334" v="9"/>
        <pc:sldMkLst>
          <pc:docMk/>
          <pc:sldMk cId="227832207" sldId="274"/>
        </pc:sldMkLst>
      </pc:sldChg>
      <pc:sldChg chg="add del">
        <pc:chgData name="Victor Gabriel Alcantara" userId="b8504b24e89a4ddd" providerId="LiveId" clId="{ED6E6489-7319-44DF-8A7B-F332FE07A027}" dt="2026-03-18T21:17:05.830" v="8" actId="2696"/>
        <pc:sldMkLst>
          <pc:docMk/>
          <pc:sldMk cId="272175490" sldId="274"/>
        </pc:sldMkLst>
      </pc:sldChg>
      <pc:sldChg chg="add ord">
        <pc:chgData name="Victor Gabriel Alcantara" userId="b8504b24e89a4ddd" providerId="LiveId" clId="{ED6E6489-7319-44DF-8A7B-F332FE07A027}" dt="2026-03-18T21:15:55.911" v="3"/>
        <pc:sldMkLst>
          <pc:docMk/>
          <pc:sldMk cId="0" sldId="288"/>
        </pc:sldMkLst>
      </pc:sldChg>
      <pc:sldChg chg="modSp mod">
        <pc:chgData name="Victor Gabriel Alcantara" userId="b8504b24e89a4ddd" providerId="LiveId" clId="{ED6E6489-7319-44DF-8A7B-F332FE07A027}" dt="2026-03-18T21:50:16.513" v="718" actId="20577"/>
        <pc:sldMkLst>
          <pc:docMk/>
          <pc:sldMk cId="2657176195" sldId="289"/>
        </pc:sldMkLst>
        <pc:spChg chg="mod">
          <ac:chgData name="Victor Gabriel Alcantara" userId="b8504b24e89a4ddd" providerId="LiveId" clId="{ED6E6489-7319-44DF-8A7B-F332FE07A027}" dt="2026-03-18T21:50:16.513" v="718" actId="20577"/>
          <ac:spMkLst>
            <pc:docMk/>
            <pc:sldMk cId="2657176195" sldId="289"/>
            <ac:spMk id="2" creationId="{23E71AB0-8D0A-6C7F-297C-4816F08EF283}"/>
          </ac:spMkLst>
        </pc:spChg>
      </pc:sldChg>
      <pc:sldChg chg="add del">
        <pc:chgData name="Victor Gabriel Alcantara" userId="b8504b24e89a4ddd" providerId="LiveId" clId="{ED6E6489-7319-44DF-8A7B-F332FE07A027}" dt="2026-03-18T21:17:05.830" v="8" actId="2696"/>
        <pc:sldMkLst>
          <pc:docMk/>
          <pc:sldMk cId="253960906" sldId="295"/>
        </pc:sldMkLst>
      </pc:sldChg>
      <pc:sldChg chg="add">
        <pc:chgData name="Victor Gabriel Alcantara" userId="b8504b24e89a4ddd" providerId="LiveId" clId="{ED6E6489-7319-44DF-8A7B-F332FE07A027}" dt="2026-03-18T21:17:08.334" v="9"/>
        <pc:sldMkLst>
          <pc:docMk/>
          <pc:sldMk cId="1719068111" sldId="295"/>
        </pc:sldMkLst>
      </pc:sldChg>
      <pc:sldChg chg="add">
        <pc:chgData name="Victor Gabriel Alcantara" userId="b8504b24e89a4ddd" providerId="LiveId" clId="{ED6E6489-7319-44DF-8A7B-F332FE07A027}" dt="2026-03-18T21:17:08.334" v="9"/>
        <pc:sldMkLst>
          <pc:docMk/>
          <pc:sldMk cId="1603908227" sldId="296"/>
        </pc:sldMkLst>
      </pc:sldChg>
      <pc:sldChg chg="add del">
        <pc:chgData name="Victor Gabriel Alcantara" userId="b8504b24e89a4ddd" providerId="LiveId" clId="{ED6E6489-7319-44DF-8A7B-F332FE07A027}" dt="2026-03-18T21:17:05.830" v="8" actId="2696"/>
        <pc:sldMkLst>
          <pc:docMk/>
          <pc:sldMk cId="1612491884" sldId="296"/>
        </pc:sldMkLst>
      </pc:sldChg>
      <pc:sldChg chg="add del">
        <pc:chgData name="Victor Gabriel Alcantara" userId="b8504b24e89a4ddd" providerId="LiveId" clId="{ED6E6489-7319-44DF-8A7B-F332FE07A027}" dt="2026-03-18T21:17:05.830" v="8" actId="2696"/>
        <pc:sldMkLst>
          <pc:docMk/>
          <pc:sldMk cId="1794080492" sldId="297"/>
        </pc:sldMkLst>
      </pc:sldChg>
      <pc:sldChg chg="add">
        <pc:chgData name="Victor Gabriel Alcantara" userId="b8504b24e89a4ddd" providerId="LiveId" clId="{ED6E6489-7319-44DF-8A7B-F332FE07A027}" dt="2026-03-18T21:17:08.334" v="9"/>
        <pc:sldMkLst>
          <pc:docMk/>
          <pc:sldMk cId="3467494683" sldId="297"/>
        </pc:sldMkLst>
      </pc:sldChg>
      <pc:sldChg chg="del">
        <pc:chgData name="Victor Gabriel Alcantara" userId="b8504b24e89a4ddd" providerId="LiveId" clId="{ED6E6489-7319-44DF-8A7B-F332FE07A027}" dt="2026-03-18T21:17:05.830" v="8" actId="2696"/>
        <pc:sldMkLst>
          <pc:docMk/>
          <pc:sldMk cId="170882143" sldId="298"/>
        </pc:sldMkLst>
      </pc:sldChg>
      <pc:sldChg chg="add">
        <pc:chgData name="Victor Gabriel Alcantara" userId="b8504b24e89a4ddd" providerId="LiveId" clId="{ED6E6489-7319-44DF-8A7B-F332FE07A027}" dt="2026-03-18T21:17:08.334" v="9"/>
        <pc:sldMkLst>
          <pc:docMk/>
          <pc:sldMk cId="2036867203" sldId="298"/>
        </pc:sldMkLst>
      </pc:sldChg>
      <pc:sldChg chg="add">
        <pc:chgData name="Victor Gabriel Alcantara" userId="b8504b24e89a4ddd" providerId="LiveId" clId="{ED6E6489-7319-44DF-8A7B-F332FE07A027}" dt="2026-03-18T21:15:41.039" v="0"/>
        <pc:sldMkLst>
          <pc:docMk/>
          <pc:sldMk cId="0" sldId="301"/>
        </pc:sldMkLst>
      </pc:sldChg>
      <pc:sldChg chg="modSp add mod">
        <pc:chgData name="Victor Gabriel Alcantara" userId="b8504b24e89a4ddd" providerId="LiveId" clId="{ED6E6489-7319-44DF-8A7B-F332FE07A027}" dt="2026-03-18T21:16:29.139" v="5" actId="27636"/>
        <pc:sldMkLst>
          <pc:docMk/>
          <pc:sldMk cId="0" sldId="304"/>
        </pc:sldMkLst>
        <pc:spChg chg="mod">
          <ac:chgData name="Victor Gabriel Alcantara" userId="b8504b24e89a4ddd" providerId="LiveId" clId="{ED6E6489-7319-44DF-8A7B-F332FE07A027}" dt="2026-03-18T21:16:29.139" v="5" actId="27636"/>
          <ac:spMkLst>
            <pc:docMk/>
            <pc:sldMk cId="0" sldId="304"/>
            <ac:spMk id="3" creationId="{32A3EE84-40DD-4499-CFA7-F582F03D6504}"/>
          </ac:spMkLst>
        </pc:spChg>
      </pc:sldChg>
      <pc:sldChg chg="add">
        <pc:chgData name="Victor Gabriel Alcantara" userId="b8504b24e89a4ddd" providerId="LiveId" clId="{ED6E6489-7319-44DF-8A7B-F332FE07A027}" dt="2026-03-18T21:15:41.039" v="0"/>
        <pc:sldMkLst>
          <pc:docMk/>
          <pc:sldMk cId="0" sldId="307"/>
        </pc:sldMkLst>
      </pc:sldChg>
      <pc:sldChg chg="add">
        <pc:chgData name="Victor Gabriel Alcantara" userId="b8504b24e89a4ddd" providerId="LiveId" clId="{ED6E6489-7319-44DF-8A7B-F332FE07A027}" dt="2026-03-18T21:15:41.039" v="0"/>
        <pc:sldMkLst>
          <pc:docMk/>
          <pc:sldMk cId="0" sldId="308"/>
        </pc:sldMkLst>
      </pc:sldChg>
      <pc:sldChg chg="modSp add mod">
        <pc:chgData name="Victor Gabriel Alcantara" userId="b8504b24e89a4ddd" providerId="LiveId" clId="{ED6E6489-7319-44DF-8A7B-F332FE07A027}" dt="2026-03-18T21:17:42.470" v="43" actId="114"/>
        <pc:sldMkLst>
          <pc:docMk/>
          <pc:sldMk cId="506618477" sldId="309"/>
        </pc:sldMkLst>
        <pc:spChg chg="mod">
          <ac:chgData name="Victor Gabriel Alcantara" userId="b8504b24e89a4ddd" providerId="LiveId" clId="{ED6E6489-7319-44DF-8A7B-F332FE07A027}" dt="2026-03-18T21:17:42.470" v="43" actId="114"/>
          <ac:spMkLst>
            <pc:docMk/>
            <pc:sldMk cId="506618477" sldId="309"/>
            <ac:spMk id="2" creationId="{ED14F1BC-F616-1D90-1AFB-E581C59BAECD}"/>
          </ac:spMkLst>
        </pc:spChg>
      </pc:sldChg>
      <pc:sldChg chg="addSp delSp modSp add mod ord delAnim">
        <pc:chgData name="Victor Gabriel Alcantara" userId="b8504b24e89a4ddd" providerId="LiveId" clId="{ED6E6489-7319-44DF-8A7B-F332FE07A027}" dt="2026-03-18T21:48:08.525" v="633" actId="6549"/>
        <pc:sldMkLst>
          <pc:docMk/>
          <pc:sldMk cId="3945766082" sldId="310"/>
        </pc:sldMkLst>
        <pc:spChg chg="del">
          <ac:chgData name="Victor Gabriel Alcantara" userId="b8504b24e89a4ddd" providerId="LiveId" clId="{ED6E6489-7319-44DF-8A7B-F332FE07A027}" dt="2026-03-18T21:39:34.402" v="362" actId="478"/>
          <ac:spMkLst>
            <pc:docMk/>
            <pc:sldMk cId="3945766082" sldId="310"/>
            <ac:spMk id="3" creationId="{D1D19170-683C-FD0F-5D2B-D44A28F5FF56}"/>
          </ac:spMkLst>
        </pc:spChg>
        <pc:spChg chg="mod">
          <ac:chgData name="Victor Gabriel Alcantara" userId="b8504b24e89a4ddd" providerId="LiveId" clId="{ED6E6489-7319-44DF-8A7B-F332FE07A027}" dt="2026-03-18T21:47:47.640" v="631" actId="20577"/>
          <ac:spMkLst>
            <pc:docMk/>
            <pc:sldMk cId="3945766082" sldId="310"/>
            <ac:spMk id="5" creationId="{A9295143-94B4-E46F-0BAF-425511E6C0F3}"/>
          </ac:spMkLst>
        </pc:spChg>
        <pc:spChg chg="del">
          <ac:chgData name="Victor Gabriel Alcantara" userId="b8504b24e89a4ddd" providerId="LiveId" clId="{ED6E6489-7319-44DF-8A7B-F332FE07A027}" dt="2026-03-18T21:22:45.475" v="77" actId="478"/>
          <ac:spMkLst>
            <pc:docMk/>
            <pc:sldMk cId="3945766082" sldId="310"/>
            <ac:spMk id="7" creationId="{DA1B36C4-26C1-011E-903E-DF82FA258B40}"/>
          </ac:spMkLst>
        </pc:spChg>
        <pc:spChg chg="add del mod">
          <ac:chgData name="Victor Gabriel Alcantara" userId="b8504b24e89a4ddd" providerId="LiveId" clId="{ED6E6489-7319-44DF-8A7B-F332FE07A027}" dt="2026-03-18T21:39:36.992" v="365" actId="478"/>
          <ac:spMkLst>
            <pc:docMk/>
            <pc:sldMk cId="3945766082" sldId="310"/>
            <ac:spMk id="8" creationId="{AAA79B5D-345A-44FB-6DFE-553D9DE8F3D7}"/>
          </ac:spMkLst>
        </pc:spChg>
        <pc:spChg chg="add mod">
          <ac:chgData name="Victor Gabriel Alcantara" userId="b8504b24e89a4ddd" providerId="LiveId" clId="{ED6E6489-7319-44DF-8A7B-F332FE07A027}" dt="2026-03-18T21:39:35.659" v="364"/>
          <ac:spMkLst>
            <pc:docMk/>
            <pc:sldMk cId="3945766082" sldId="310"/>
            <ac:spMk id="9" creationId="{741B8605-6E39-275B-E45D-D3B660EAE281}"/>
          </ac:spMkLst>
        </pc:spChg>
        <pc:spChg chg="add mod">
          <ac:chgData name="Victor Gabriel Alcantara" userId="b8504b24e89a4ddd" providerId="LiveId" clId="{ED6E6489-7319-44DF-8A7B-F332FE07A027}" dt="2026-03-18T21:48:08.525" v="633" actId="6549"/>
          <ac:spMkLst>
            <pc:docMk/>
            <pc:sldMk cId="3945766082" sldId="310"/>
            <ac:spMk id="10" creationId="{76A29C38-B7AE-6151-90CF-0F35AC818580}"/>
          </ac:spMkLst>
        </pc:spChg>
        <pc:picChg chg="del">
          <ac:chgData name="Victor Gabriel Alcantara" userId="b8504b24e89a4ddd" providerId="LiveId" clId="{ED6E6489-7319-44DF-8A7B-F332FE07A027}" dt="2026-03-18T21:22:42.915" v="76" actId="478"/>
          <ac:picMkLst>
            <pc:docMk/>
            <pc:sldMk cId="3945766082" sldId="310"/>
            <ac:picMk id="6" creationId="{5E6A0DA7-5053-BDB0-3117-15530149946A}"/>
          </ac:picMkLst>
        </pc:picChg>
      </pc:sldChg>
      <pc:sldChg chg="modSp add mod">
        <pc:chgData name="Victor Gabriel Alcantara" userId="b8504b24e89a4ddd" providerId="LiveId" clId="{ED6E6489-7319-44DF-8A7B-F332FE07A027}" dt="2026-03-18T21:44:12.802" v="493" actId="20577"/>
        <pc:sldMkLst>
          <pc:docMk/>
          <pc:sldMk cId="272175490" sldId="311"/>
        </pc:sldMkLst>
        <pc:spChg chg="mod">
          <ac:chgData name="Victor Gabriel Alcantara" userId="b8504b24e89a4ddd" providerId="LiveId" clId="{ED6E6489-7319-44DF-8A7B-F332FE07A027}" dt="2026-03-18T21:44:12.802" v="493" actId="20577"/>
          <ac:spMkLst>
            <pc:docMk/>
            <pc:sldMk cId="272175490" sldId="311"/>
            <ac:spMk id="2" creationId="{23E71AB0-8D0A-6C7F-297C-4816F08EF283}"/>
          </ac:spMkLst>
        </pc:spChg>
      </pc:sldChg>
      <pc:sldChg chg="add">
        <pc:chgData name="Victor Gabriel Alcantara" userId="b8504b24e89a4ddd" providerId="LiveId" clId="{ED6E6489-7319-44DF-8A7B-F332FE07A027}" dt="2026-03-18T21:22:20.953" v="47"/>
        <pc:sldMkLst>
          <pc:docMk/>
          <pc:sldMk cId="253960906" sldId="312"/>
        </pc:sldMkLst>
      </pc:sldChg>
      <pc:sldChg chg="add ord">
        <pc:chgData name="Victor Gabriel Alcantara" userId="b8504b24e89a4ddd" providerId="LiveId" clId="{ED6E6489-7319-44DF-8A7B-F332FE07A027}" dt="2026-03-18T21:44:03.585" v="483"/>
        <pc:sldMkLst>
          <pc:docMk/>
          <pc:sldMk cId="2867217446" sldId="313"/>
        </pc:sldMkLst>
      </pc:sldChg>
      <pc:sldChg chg="modSp add mod">
        <pc:chgData name="Victor Gabriel Alcantara" userId="b8504b24e89a4ddd" providerId="LiveId" clId="{ED6E6489-7319-44DF-8A7B-F332FE07A027}" dt="2026-03-18T21:43:22.927" v="478" actId="14100"/>
        <pc:sldMkLst>
          <pc:docMk/>
          <pc:sldMk cId="4187929253" sldId="314"/>
        </pc:sldMkLst>
        <pc:spChg chg="mod">
          <ac:chgData name="Victor Gabriel Alcantara" userId="b8504b24e89a4ddd" providerId="LiveId" clId="{ED6E6489-7319-44DF-8A7B-F332FE07A027}" dt="2026-03-18T21:43:22.927" v="478" actId="14100"/>
          <ac:spMkLst>
            <pc:docMk/>
            <pc:sldMk cId="4187929253" sldId="314"/>
            <ac:spMk id="3" creationId="{82D6EF5C-0D54-0051-843A-BD304A6783EC}"/>
          </ac:spMkLst>
        </pc:spChg>
        <pc:spChg chg="mod">
          <ac:chgData name="Victor Gabriel Alcantara" userId="b8504b24e89a4ddd" providerId="LiveId" clId="{ED6E6489-7319-44DF-8A7B-F332FE07A027}" dt="2026-03-18T21:24:20.598" v="157" actId="6549"/>
          <ac:spMkLst>
            <pc:docMk/>
            <pc:sldMk cId="4187929253" sldId="314"/>
            <ac:spMk id="5" creationId="{7DC42346-D51B-019F-1175-F5160CABCF85}"/>
          </ac:spMkLst>
        </pc:spChg>
      </pc:sldChg>
      <pc:sldChg chg="add">
        <pc:chgData name="Victor Gabriel Alcantara" userId="b8504b24e89a4ddd" providerId="LiveId" clId="{ED6E6489-7319-44DF-8A7B-F332FE07A027}" dt="2026-03-18T21:43:38.850" v="481" actId="2890"/>
        <pc:sldMkLst>
          <pc:docMk/>
          <pc:sldMk cId="2749165890" sldId="315"/>
        </pc:sldMkLst>
      </pc:sldChg>
      <pc:sldChg chg="add del">
        <pc:chgData name="Victor Gabriel Alcantara" userId="b8504b24e89a4ddd" providerId="LiveId" clId="{ED6E6489-7319-44DF-8A7B-F332FE07A027}" dt="2026-03-18T21:43:36.171" v="480" actId="47"/>
        <pc:sldMkLst>
          <pc:docMk/>
          <pc:sldMk cId="3693660589" sldId="315"/>
        </pc:sldMkLst>
      </pc:sldChg>
      <pc:sldChg chg="add">
        <pc:chgData name="Victor Gabriel Alcantara" userId="b8504b24e89a4ddd" providerId="LiveId" clId="{ED6E6489-7319-44DF-8A7B-F332FE07A027}" dt="2026-03-18T21:45:30.026" v="494" actId="2890"/>
        <pc:sldMkLst>
          <pc:docMk/>
          <pc:sldMk cId="2228512090" sldId="316"/>
        </pc:sldMkLst>
      </pc:sldChg>
      <pc:sldChg chg="modSp add mod">
        <pc:chgData name="Victor Gabriel Alcantara" userId="b8504b24e89a4ddd" providerId="LiveId" clId="{ED6E6489-7319-44DF-8A7B-F332FE07A027}" dt="2026-03-18T21:49:49.420" v="706" actId="113"/>
        <pc:sldMkLst>
          <pc:docMk/>
          <pc:sldMk cId="917939083" sldId="317"/>
        </pc:sldMkLst>
        <pc:spChg chg="mod">
          <ac:chgData name="Victor Gabriel Alcantara" userId="b8504b24e89a4ddd" providerId="LiveId" clId="{ED6E6489-7319-44DF-8A7B-F332FE07A027}" dt="2026-03-18T21:49:49.420" v="706" actId="113"/>
          <ac:spMkLst>
            <pc:docMk/>
            <pc:sldMk cId="917939083" sldId="317"/>
            <ac:spMk id="3" creationId="{6F697837-ACC3-42DF-E29C-4808FF284B5B}"/>
          </ac:spMkLst>
        </pc:spChg>
        <pc:spChg chg="mod">
          <ac:chgData name="Victor Gabriel Alcantara" userId="b8504b24e89a4ddd" providerId="LiveId" clId="{ED6E6489-7319-44DF-8A7B-F332FE07A027}" dt="2026-03-18T21:48:28.747" v="653" actId="20577"/>
          <ac:spMkLst>
            <pc:docMk/>
            <pc:sldMk cId="917939083" sldId="317"/>
            <ac:spMk id="5" creationId="{02C1D056-B257-9784-AAFB-0DDE6EBE2B3A}"/>
          </ac:spMkLst>
        </pc:spChg>
      </pc:sldChg>
      <pc:sldChg chg="modSp add mod">
        <pc:chgData name="Victor Gabriel Alcantara" userId="b8504b24e89a4ddd" providerId="LiveId" clId="{ED6E6489-7319-44DF-8A7B-F332FE07A027}" dt="2026-03-18T21:56:21.187" v="865" actId="5793"/>
        <pc:sldMkLst>
          <pc:docMk/>
          <pc:sldMk cId="2398846256" sldId="318"/>
        </pc:sldMkLst>
        <pc:spChg chg="mod">
          <ac:chgData name="Victor Gabriel Alcantara" userId="b8504b24e89a4ddd" providerId="LiveId" clId="{ED6E6489-7319-44DF-8A7B-F332FE07A027}" dt="2026-03-18T21:56:21.187" v="865" actId="5793"/>
          <ac:spMkLst>
            <pc:docMk/>
            <pc:sldMk cId="2398846256" sldId="318"/>
            <ac:spMk id="3" creationId="{34A10E0E-9206-7E4C-DC25-9AAD77549659}"/>
          </ac:spMkLst>
        </pc:spChg>
        <pc:spChg chg="mod">
          <ac:chgData name="Victor Gabriel Alcantara" userId="b8504b24e89a4ddd" providerId="LiveId" clId="{ED6E6489-7319-44DF-8A7B-F332FE07A027}" dt="2026-03-18T21:54:45.568" v="793" actId="20577"/>
          <ac:spMkLst>
            <pc:docMk/>
            <pc:sldMk cId="2398846256" sldId="318"/>
            <ac:spMk id="5" creationId="{B8ED93DA-B5F7-09CD-B3F5-0E22F71B7BD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E9302D-A272-4E23-90FC-89FFA96E30A2}" type="datetimeFigureOut">
              <a:rPr lang="pt-BR" smtClean="0"/>
              <a:t>18/03/2026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BFC65-BD4F-4DC1-B0BF-00EECF765E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543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8EE3F-DF1A-4A86-9339-0C1E19B7B5B6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600"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BF739-6AF4-4436-B55E-E484298E7D1A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1073" y="6374044"/>
            <a:ext cx="1530927" cy="365125"/>
          </a:xfrm>
        </p:spPr>
        <p:txBody>
          <a:bodyPr/>
          <a:lstStyle>
            <a:lvl1pPr>
              <a:defRPr sz="3600"/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2715-8CB1-4656-B116-E794F7BDE9F6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EC026-C0DA-411F-B99E-97865A84832D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CBB6E-C676-4E8D-90E8-17875FD5687C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A562F-59F2-411E-B39C-2046FC71929E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BF5-9B0A-454D-A007-ADD9A30EEFEE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142F9-94B1-4B21-BBC4-4EFECCE52F77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11AE-C917-4FB4-A623-3B2A58184187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DB74C-F68F-444C-9218-BC7E08C19B53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2B5DE-9977-4C8B-856C-848FCBCBA7DA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11B7CC1-BFF1-19D2-BCB6-4B872BA4027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E78CDB3-0DA1-49CC-AFB0-D8BD3A15DDF1}" type="datetime1">
              <a:rPr lang="en-US"/>
              <a:pPr lvl="0"/>
              <a:t>3/18/2026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FC72FC7-8193-4DA8-6744-4B8305078C7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A9FD0BC-9299-D16C-B4D0-38F5F383EDD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661071" y="6374044"/>
            <a:ext cx="1530925" cy="365129"/>
          </a:xfrm>
        </p:spPr>
        <p:txBody>
          <a:bodyPr/>
          <a:lstStyle>
            <a:lvl1pPr>
              <a:defRPr sz="3600"/>
            </a:lvl1pPr>
          </a:lstStyle>
          <a:p>
            <a:pPr lvl="0"/>
            <a:fld id="{9413EE63-38BD-4459-AE3A-9681234728C9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3405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B7A9BAE-2958-4634-B038-83CB100EE31A}" type="datetime1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rpubs.com/gabriel-assuncao-ibge/pnadc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3205C363-35B1-A875-05BA-F5A725812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956" y="2971799"/>
            <a:ext cx="7315200" cy="2649071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pt-BR" sz="2400" dirty="0"/>
              <a:t>Recapitulando aula anterior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pt-BR" sz="2400" dirty="0" err="1"/>
              <a:t>tidyverse</a:t>
            </a:r>
            <a:endParaRPr lang="pt-BR" sz="24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0ED2B66-1D25-EE37-89FC-A09BAAD50ADA}"/>
              </a:ext>
            </a:extLst>
          </p:cNvPr>
          <p:cNvSpPr txBox="1">
            <a:spLocks/>
          </p:cNvSpPr>
          <p:nvPr/>
        </p:nvSpPr>
        <p:spPr>
          <a:xfrm>
            <a:off x="505072" y="1379130"/>
            <a:ext cx="7315200" cy="10592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Análise de dados com R</a:t>
            </a:r>
            <a:br>
              <a:rPr lang="pt-BR" dirty="0"/>
            </a:br>
            <a:r>
              <a:rPr lang="pt-BR" sz="2700" dirty="0"/>
              <a:t>Aula 03 – </a:t>
            </a:r>
            <a:r>
              <a:rPr lang="pt-BR" sz="2700" dirty="0" err="1"/>
              <a:t>Import</a:t>
            </a:r>
            <a:r>
              <a:rPr lang="pt-BR" sz="2700" dirty="0"/>
              <a:t> </a:t>
            </a:r>
            <a:r>
              <a:rPr lang="pt-BR" sz="2700" dirty="0" err="1"/>
              <a:t>and</a:t>
            </a:r>
            <a:r>
              <a:rPr lang="pt-BR" sz="2700" dirty="0"/>
              <a:t> </a:t>
            </a:r>
            <a:r>
              <a:rPr lang="pt-BR" sz="2700" dirty="0" err="1"/>
              <a:t>Tidy</a:t>
            </a:r>
            <a:r>
              <a:rPr lang="pt-BR" sz="2700" dirty="0"/>
              <a:t> Data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13517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7F672E1-7599-D5CC-5E5B-72D6C865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BDD9955-EF8C-5E16-103C-EAA136D272F2}"/>
              </a:ext>
            </a:extLst>
          </p:cNvPr>
          <p:cNvSpPr txBox="1">
            <a:spLocks/>
          </p:cNvSpPr>
          <p:nvPr/>
        </p:nvSpPr>
        <p:spPr>
          <a:xfrm>
            <a:off x="0" y="2374928"/>
            <a:ext cx="3433482" cy="14440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Revisão</a:t>
            </a:r>
          </a:p>
          <a:p>
            <a:pPr algn="ctr"/>
            <a:endParaRPr lang="pt-BR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pt-BR" dirty="0">
                <a:solidFill>
                  <a:schemeClr val="bg1"/>
                </a:solidFill>
              </a:rPr>
              <a:t>Tópicos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9FA69E9-F558-7856-95D2-C84BDDF492DD}"/>
              </a:ext>
            </a:extLst>
          </p:cNvPr>
          <p:cNvSpPr txBox="1"/>
          <p:nvPr/>
        </p:nvSpPr>
        <p:spPr>
          <a:xfrm>
            <a:off x="3874995" y="1012954"/>
            <a:ext cx="6100482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</a:rPr>
              <a:t>Práticas comunitárias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</a:rPr>
              <a:t>R Script x R </a:t>
            </a:r>
            <a:r>
              <a:rPr lang="pt-BR" sz="2000" dirty="0" err="1">
                <a:solidFill>
                  <a:schemeClr val="accent1">
                    <a:lumMod val="50000"/>
                  </a:schemeClr>
                </a:solidFill>
              </a:rPr>
              <a:t>Markdown</a:t>
            </a:r>
            <a:endParaRPr lang="pt-BR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</a:rPr>
              <a:t>Operações básicas: lógica, funções e pacotes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</a:rPr>
              <a:t>Exercícios em aula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</a:rPr>
              <a:t>Vetores e </a:t>
            </a:r>
            <a:r>
              <a:rPr lang="pt-BR" sz="2000" dirty="0" err="1">
                <a:solidFill>
                  <a:schemeClr val="accent1">
                    <a:lumMod val="50000"/>
                  </a:schemeClr>
                </a:solidFill>
              </a:rPr>
              <a:t>data.frame</a:t>
            </a:r>
            <a:endParaRPr lang="pt-BR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</a:rPr>
              <a:t>Pacotes </a:t>
            </a:r>
            <a:r>
              <a:rPr lang="pt-BR" sz="2000" b="1" dirty="0" err="1">
                <a:solidFill>
                  <a:schemeClr val="accent1">
                    <a:lumMod val="50000"/>
                  </a:schemeClr>
                </a:solidFill>
              </a:rPr>
              <a:t>tidyverse</a:t>
            </a:r>
            <a:r>
              <a:rPr lang="pt-BR" sz="2000" dirty="0">
                <a:solidFill>
                  <a:schemeClr val="accent1">
                    <a:lumMod val="50000"/>
                  </a:schemeClr>
                </a:solidFill>
              </a:rPr>
              <a:t> e </a:t>
            </a:r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rio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Tópicos importantes</a:t>
            </a:r>
          </a:p>
          <a:p>
            <a:endParaRPr lang="pt-BR" sz="24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 err="1">
                <a:solidFill>
                  <a:schemeClr val="accent1">
                    <a:lumMod val="50000"/>
                  </a:schemeClr>
                </a:solidFill>
              </a:rPr>
              <a:t>Import</a:t>
            </a:r>
            <a:r>
              <a:rPr lang="pt-BR" sz="2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pt-BR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importação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 err="1">
                <a:solidFill>
                  <a:schemeClr val="accent1">
                    <a:lumMod val="50000"/>
                  </a:schemeClr>
                </a:solidFill>
              </a:rPr>
              <a:t>Tidy</a:t>
            </a:r>
            <a:r>
              <a:rPr lang="pt-BR" sz="2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pt-BR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organização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 err="1">
                <a:solidFill>
                  <a:schemeClr val="accent1">
                    <a:lumMod val="50000"/>
                  </a:schemeClr>
                </a:solidFill>
              </a:rPr>
              <a:t>Transform</a:t>
            </a:r>
            <a:r>
              <a:rPr lang="pt-BR" sz="2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pt-BR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transformação</a:t>
            </a:r>
          </a:p>
        </p:txBody>
      </p:sp>
    </p:spTree>
    <p:extLst>
      <p:ext uri="{BB962C8B-B14F-4D97-AF65-F5344CB8AC3E}">
        <p14:creationId xmlns:p14="http://schemas.microsoft.com/office/powerpoint/2010/main" val="277329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35093E0-CD01-975C-CF42-AA66BE3BF0C2}"/>
              </a:ext>
            </a:extLst>
          </p:cNvPr>
          <p:cNvSpPr/>
          <p:nvPr/>
        </p:nvSpPr>
        <p:spPr>
          <a:xfrm>
            <a:off x="950262" y="2214283"/>
            <a:ext cx="10488707" cy="2241176"/>
          </a:xfrm>
          <a:prstGeom prst="rect">
            <a:avLst/>
          </a:prstGeom>
          <a:solidFill>
            <a:srgbClr val="40BAD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800" b="0" i="0" u="none" strike="noStrike" kern="1200" cap="none" spc="0" baseline="0">
                <a:solidFill>
                  <a:srgbClr val="FFFFFF"/>
                </a:solidFill>
                <a:uFillTx/>
                <a:latin typeface="Corbel"/>
              </a:rPr>
              <a:t>Recapitulando</a:t>
            </a:r>
          </a:p>
        </p:txBody>
      </p:sp>
      <p:sp>
        <p:nvSpPr>
          <p:cNvPr id="3" name="Espaço Reservado para Número de Slide 3">
            <a:extLst>
              <a:ext uri="{FF2B5EF4-FFF2-40B4-BE49-F238E27FC236}">
                <a16:creationId xmlns:a16="http://schemas.microsoft.com/office/drawing/2014/main" id="{5804DD33-5C90-8BBA-F27D-00D672CCFA27}"/>
              </a:ext>
            </a:extLst>
          </p:cNvPr>
          <p:cNvSpPr txBox="1"/>
          <p:nvPr/>
        </p:nvSpPr>
        <p:spPr>
          <a:xfrm>
            <a:off x="10634133" y="6356351"/>
            <a:ext cx="1530925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3599FCB-A607-4729-9DA8-79E6639DDD5B}" type="slidenum">
              <a:rPr lang="en-US" sz="1200" b="1" i="0" u="none" strike="noStrike" kern="1200" cap="none" spc="0" baseline="0">
                <a:solidFill>
                  <a:srgbClr val="40BAD2"/>
                </a:solidFill>
                <a:uFillTx/>
                <a:latin typeface="Corbel"/>
              </a:rPr>
              <a:t>3</a:t>
            </a:fld>
            <a:endParaRPr lang="en-US" sz="1200" b="1" i="0" u="none" strike="noStrike" kern="1200" cap="none" spc="0" baseline="0">
              <a:solidFill>
                <a:srgbClr val="40BAD2"/>
              </a:solidFill>
              <a:uFillTx/>
              <a:latin typeface="Corb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B0C03B4-13DC-2A75-4446-C025982721BF}"/>
              </a:ext>
            </a:extLst>
          </p:cNvPr>
          <p:cNvSpPr/>
          <p:nvPr/>
        </p:nvSpPr>
        <p:spPr>
          <a:xfrm>
            <a:off x="950262" y="2214283"/>
            <a:ext cx="10488707" cy="2241176"/>
          </a:xfrm>
          <a:prstGeom prst="rect">
            <a:avLst/>
          </a:prstGeom>
          <a:solidFill>
            <a:srgbClr val="40BAD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800" b="0" i="0" u="none" strike="noStrike" kern="1200" cap="none" spc="0" baseline="0">
                <a:solidFill>
                  <a:srgbClr val="FFFFFF"/>
                </a:solidFill>
                <a:uFillTx/>
                <a:latin typeface="Corbel"/>
              </a:rPr>
              <a:t>Import e manuseio de dados</a:t>
            </a:r>
            <a:endParaRPr lang="pt-BR" sz="1800" b="0" i="0" u="none" strike="noStrike" kern="1200" cap="none" spc="0" baseline="0">
              <a:solidFill>
                <a:srgbClr val="FFFFFF"/>
              </a:solidFill>
              <a:uFillTx/>
              <a:latin typeface="Corbel"/>
            </a:endParaRPr>
          </a:p>
        </p:txBody>
      </p:sp>
      <p:sp>
        <p:nvSpPr>
          <p:cNvPr id="3" name="Espaço Reservado para Número de Slide 3">
            <a:extLst>
              <a:ext uri="{FF2B5EF4-FFF2-40B4-BE49-F238E27FC236}">
                <a16:creationId xmlns:a16="http://schemas.microsoft.com/office/drawing/2014/main" id="{E10DBB81-3D22-54AF-1F4C-F3ED27D19A57}"/>
              </a:ext>
            </a:extLst>
          </p:cNvPr>
          <p:cNvSpPr txBox="1"/>
          <p:nvPr/>
        </p:nvSpPr>
        <p:spPr>
          <a:xfrm>
            <a:off x="10634133" y="6356351"/>
            <a:ext cx="1530925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F5FA587-1F4F-43E2-86EA-28DD5C352AAF}" type="slidenum">
              <a:rPr lang="en-US" sz="1200" b="1" i="0" u="none" strike="noStrike" kern="1200" cap="none" spc="0" baseline="0">
                <a:solidFill>
                  <a:srgbClr val="40BAD2"/>
                </a:solidFill>
                <a:uFillTx/>
                <a:latin typeface="Corbel"/>
              </a:rPr>
              <a:t>4</a:t>
            </a:fld>
            <a:endParaRPr lang="en-US" sz="1200" b="1" i="0" u="none" strike="noStrike" kern="1200" cap="none" spc="0" baseline="0">
              <a:solidFill>
                <a:srgbClr val="40BAD2"/>
              </a:solidFill>
              <a:uFillTx/>
              <a:latin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1D260-02FA-CE02-E878-77427896D9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23" y="1123834"/>
            <a:ext cx="2947486" cy="460117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pt-BR"/>
              <a:t>Como iniciar um </a:t>
            </a:r>
            <a:r>
              <a:rPr lang="pt-BR" i="1"/>
              <a:t>script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A3EE84-40DD-4499-CFA7-F582F03D650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869265" y="864108"/>
            <a:ext cx="7868558" cy="52748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 fontScale="92500" lnSpcReduction="10000"/>
          </a:bodyPr>
          <a:lstStyle/>
          <a:p>
            <a:pPr marL="0" lvl="0" indent="0">
              <a:buNone/>
            </a:pPr>
            <a:r>
              <a:rPr lang="pt-BR" sz="1400"/>
              <a:t># Título do script: Como iniciar um script</a:t>
            </a:r>
          </a:p>
          <a:p>
            <a:pPr marL="0" lvl="0" indent="0">
              <a:buNone/>
            </a:pPr>
            <a:r>
              <a:rPr lang="pt-BR" sz="1400"/>
              <a:t># Autor: Victor G Alcantara</a:t>
            </a:r>
          </a:p>
          <a:p>
            <a:pPr marL="0" lvl="0" indent="0">
              <a:buNone/>
            </a:pPr>
            <a:endParaRPr lang="pt-BR" sz="1400"/>
          </a:p>
          <a:p>
            <a:pPr marL="0" lvl="0" indent="0">
              <a:buNone/>
            </a:pPr>
            <a:r>
              <a:rPr lang="pt-BR" sz="1400"/>
              <a:t># Setup --------------------------------------------------------------------------------------------------------------------</a:t>
            </a:r>
          </a:p>
          <a:p>
            <a:pPr marL="0" lvl="0" indent="0">
              <a:buNone/>
            </a:pPr>
            <a:endParaRPr lang="pt-BR" sz="1400"/>
          </a:p>
          <a:p>
            <a:pPr marL="0" lvl="0" indent="0">
              <a:buNone/>
            </a:pPr>
            <a:r>
              <a:rPr lang="pt-BR" sz="1400"/>
              <a:t># Gestão da memória</a:t>
            </a:r>
          </a:p>
          <a:p>
            <a:pPr marL="0" lvl="0" indent="0">
              <a:buNone/>
            </a:pPr>
            <a:r>
              <a:rPr lang="pt-BR" sz="1400"/>
              <a:t>rm( list = ls() ) # Remove todos os objetos listados na memória</a:t>
            </a:r>
          </a:p>
          <a:p>
            <a:pPr marL="0" lvl="0" indent="0">
              <a:buNone/>
            </a:pPr>
            <a:r>
              <a:rPr lang="pt-BR" sz="1400"/>
              <a:t>gc() # Faz a limpeza da lixeira da memória</a:t>
            </a:r>
          </a:p>
          <a:p>
            <a:pPr marL="0" lvl="0" indent="0">
              <a:buNone/>
            </a:pPr>
            <a:endParaRPr lang="pt-BR" sz="1400"/>
          </a:p>
          <a:p>
            <a:pPr marL="0" lvl="0" indent="0">
              <a:buNone/>
            </a:pPr>
            <a:r>
              <a:rPr lang="pt-BR" sz="1400"/>
              <a:t># Gestão de funções e pacotes</a:t>
            </a:r>
          </a:p>
          <a:p>
            <a:pPr marL="0" lvl="0" indent="0">
              <a:buNone/>
            </a:pPr>
            <a:r>
              <a:rPr lang="pt-BR" sz="1400"/>
              <a:t># install.packages("tidyverse") # Instala o pacote tidyverse como exemplo</a:t>
            </a:r>
          </a:p>
          <a:p>
            <a:pPr marL="0" lvl="0" indent="0">
              <a:buNone/>
            </a:pPr>
            <a:r>
              <a:rPr lang="pt-BR" sz="1400"/>
              <a:t>library(tidyverse) # Carrega o pacote tidyverse como exemplo</a:t>
            </a:r>
          </a:p>
          <a:p>
            <a:pPr marL="0" lvl="0" indent="0">
              <a:buNone/>
            </a:pPr>
            <a:endParaRPr lang="pt-BR" sz="1400"/>
          </a:p>
          <a:p>
            <a:pPr marL="0" lvl="0" indent="0">
              <a:buNone/>
            </a:pPr>
            <a:r>
              <a:rPr lang="pt-BR" sz="1400"/>
              <a:t># Gestão do diretório</a:t>
            </a:r>
          </a:p>
          <a:p>
            <a:pPr marL="0" lvl="0" indent="0">
              <a:buNone/>
            </a:pPr>
            <a:r>
              <a:rPr lang="pt-BR" sz="1400"/>
              <a:t>getwd() # Verifica diretório principal de trabalho</a:t>
            </a:r>
          </a:p>
          <a:p>
            <a:pPr marL="0" lvl="0" indent="0">
              <a:buNone/>
            </a:pPr>
            <a:r>
              <a:rPr lang="pt-BR" sz="1400"/>
              <a:t>setwd(dir = "C:/Users/13477365/Documents/book-dadoscomr") # Define diretório principal de trabalho</a:t>
            </a:r>
          </a:p>
          <a:p>
            <a:pPr marL="0" lvl="0" indent="0">
              <a:buNone/>
            </a:pPr>
            <a:r>
              <a:rPr lang="pt-BR" sz="1400"/>
              <a:t># Atenção à posição das barras! Deve estar como "/"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B8B1435-55DE-FD34-FEFD-B543AFDBEE9E}"/>
              </a:ext>
            </a:extLst>
          </p:cNvPr>
          <p:cNvSpPr txBox="1"/>
          <p:nvPr/>
        </p:nvSpPr>
        <p:spPr>
          <a:xfrm>
            <a:off x="10661071" y="6374044"/>
            <a:ext cx="1530925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DDDC36E-7D6D-4453-8530-897A60EBB753}" type="slidenum">
              <a:rPr lang="en-US" sz="3600" b="1" i="0" u="none" strike="noStrike" kern="1200" cap="none" spc="0" baseline="0">
                <a:solidFill>
                  <a:srgbClr val="40BAD2"/>
                </a:solidFill>
                <a:uFillTx/>
                <a:latin typeface="Corbel"/>
              </a:rPr>
              <a:t>5</a:t>
            </a:fld>
            <a:endParaRPr lang="en-US" sz="3600" b="1" i="0" u="none" strike="noStrike" kern="1200" cap="none" spc="0" baseline="0">
              <a:solidFill>
                <a:srgbClr val="40BAD2"/>
              </a:solidFill>
              <a:uFillTx/>
              <a:latin typeface="Corbe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1F0939-7C2A-02D4-3BDC-5C94919D0A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23" y="1123834"/>
            <a:ext cx="2947486" cy="460117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 algn="ctr"/>
            <a:r>
              <a:rPr lang="pt-BR">
                <a:solidFill>
                  <a:srgbClr val="1A616F"/>
                </a:solidFill>
              </a:rPr>
              <a:t>importação</a:t>
            </a:r>
            <a:br>
              <a:rPr lang="pt-BR"/>
            </a:br>
            <a:r>
              <a:rPr lang="pt-BR"/>
              <a:t>R Input Output</a:t>
            </a:r>
          </a:p>
        </p:txBody>
      </p:sp>
      <p:sp>
        <p:nvSpPr>
          <p:cNvPr id="3" name="CaixaDeTexto 4">
            <a:extLst>
              <a:ext uri="{FF2B5EF4-FFF2-40B4-BE49-F238E27FC236}">
                <a16:creationId xmlns:a16="http://schemas.microsoft.com/office/drawing/2014/main" id="{54284F43-485F-31F6-366A-89F13976CB59}"/>
              </a:ext>
            </a:extLst>
          </p:cNvPr>
          <p:cNvSpPr txBox="1"/>
          <p:nvPr/>
        </p:nvSpPr>
        <p:spPr>
          <a:xfrm>
            <a:off x="6090498" y="476210"/>
            <a:ext cx="1879037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Pacote </a:t>
            </a:r>
            <a:r>
              <a:rPr lang="pt-BR" sz="28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RIO</a:t>
            </a:r>
          </a:p>
        </p:txBody>
      </p:sp>
      <p:sp>
        <p:nvSpPr>
          <p:cNvPr id="4" name="CaixaDeTexto 5">
            <a:extLst>
              <a:ext uri="{FF2B5EF4-FFF2-40B4-BE49-F238E27FC236}">
                <a16:creationId xmlns:a16="http://schemas.microsoft.com/office/drawing/2014/main" id="{277274E2-DB50-EE2F-8C8A-8396F78B33AB}"/>
              </a:ext>
            </a:extLst>
          </p:cNvPr>
          <p:cNvSpPr txBox="1"/>
          <p:nvPr/>
        </p:nvSpPr>
        <p:spPr>
          <a:xfrm>
            <a:off x="3980328" y="1524003"/>
            <a:ext cx="4820552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meus_dados &lt;- import( “endereço_do_arquivo” )</a:t>
            </a:r>
          </a:p>
        </p:txBody>
      </p:sp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820ACE4D-45D6-A76A-9678-D5EEFD492E96}"/>
              </a:ext>
            </a:extLst>
          </p:cNvPr>
          <p:cNvSpPr txBox="1"/>
          <p:nvPr/>
        </p:nvSpPr>
        <p:spPr>
          <a:xfrm>
            <a:off x="10661071" y="6374044"/>
            <a:ext cx="1530925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21E5EF1-821B-42B9-B13E-CAE497A3FA4D}" type="slidenum">
              <a:rPr lang="en-US" sz="3600" b="1" i="0" u="none" strike="noStrike" kern="1200" cap="none" spc="0" baseline="0">
                <a:solidFill>
                  <a:srgbClr val="40BAD2"/>
                </a:solidFill>
                <a:uFillTx/>
                <a:latin typeface="Corbel"/>
              </a:rPr>
              <a:t>6</a:t>
            </a:fld>
            <a:endParaRPr lang="en-US" sz="3600" b="1" i="0" u="none" strike="noStrike" kern="1200" cap="none" spc="0" baseline="0">
              <a:solidFill>
                <a:srgbClr val="40BAD2"/>
              </a:solidFill>
              <a:uFillTx/>
              <a:latin typeface="Corb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D0D01-D012-1E3B-2145-63E44A6466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23" y="1123834"/>
            <a:ext cx="2947486" cy="460117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 algn="ctr"/>
            <a:r>
              <a:rPr lang="pt-BR">
                <a:solidFill>
                  <a:srgbClr val="1A616F"/>
                </a:solidFill>
              </a:rPr>
              <a:t>visualização</a:t>
            </a:r>
            <a:br>
              <a:rPr lang="pt-BR"/>
            </a:br>
            <a:r>
              <a:rPr lang="pt-BR" sz="2800"/>
              <a:t>estrutura do dado</a:t>
            </a:r>
          </a:p>
        </p:txBody>
      </p:sp>
      <p:sp>
        <p:nvSpPr>
          <p:cNvPr id="3" name="CaixaDeTexto 4">
            <a:extLst>
              <a:ext uri="{FF2B5EF4-FFF2-40B4-BE49-F238E27FC236}">
                <a16:creationId xmlns:a16="http://schemas.microsoft.com/office/drawing/2014/main" id="{4F9FAD15-B96C-9BB7-C1D3-3E188061328F}"/>
              </a:ext>
            </a:extLst>
          </p:cNvPr>
          <p:cNvSpPr txBox="1"/>
          <p:nvPr/>
        </p:nvSpPr>
        <p:spPr>
          <a:xfrm>
            <a:off x="4239926" y="476210"/>
            <a:ext cx="7328349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Funções úteis para visualizar o dado</a:t>
            </a: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</p:txBody>
      </p:sp>
      <p:sp>
        <p:nvSpPr>
          <p:cNvPr id="4" name="Espaço Reservado para Número de Slide 2">
            <a:extLst>
              <a:ext uri="{FF2B5EF4-FFF2-40B4-BE49-F238E27FC236}">
                <a16:creationId xmlns:a16="http://schemas.microsoft.com/office/drawing/2014/main" id="{0C8C2473-6A0D-CC13-C2CF-E32DE0E0EBD6}"/>
              </a:ext>
            </a:extLst>
          </p:cNvPr>
          <p:cNvSpPr txBox="1"/>
          <p:nvPr/>
        </p:nvSpPr>
        <p:spPr>
          <a:xfrm>
            <a:off x="10661071" y="6374044"/>
            <a:ext cx="1530925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AF5B6FA-8C09-4616-B556-27E17353418E}" type="slidenum">
              <a:rPr lang="en-US" sz="3600" b="1" i="0" u="none" strike="noStrike" kern="1200" cap="none" spc="0" baseline="0">
                <a:solidFill>
                  <a:srgbClr val="40BAD2"/>
                </a:solidFill>
                <a:uFillTx/>
                <a:latin typeface="Corbel"/>
              </a:rPr>
              <a:t>7</a:t>
            </a:fld>
            <a:endParaRPr lang="en-US" sz="3600" b="1" i="0" u="none" strike="noStrike" kern="1200" cap="none" spc="0" baseline="0">
              <a:solidFill>
                <a:srgbClr val="40BAD2"/>
              </a:solidFill>
              <a:uFillTx/>
              <a:latin typeface="Corbel"/>
            </a:endParaRPr>
          </a:p>
        </p:txBody>
      </p:sp>
      <p:sp>
        <p:nvSpPr>
          <p:cNvPr id="5" name="CaixaDeTexto 1">
            <a:extLst>
              <a:ext uri="{FF2B5EF4-FFF2-40B4-BE49-F238E27FC236}">
                <a16:creationId xmlns:a16="http://schemas.microsoft.com/office/drawing/2014/main" id="{2234428E-898B-D94C-EA0F-05848107DB2D}"/>
              </a:ext>
            </a:extLst>
          </p:cNvPr>
          <p:cNvSpPr txBox="1"/>
          <p:nvPr/>
        </p:nvSpPr>
        <p:spPr>
          <a:xfrm>
            <a:off x="3871688" y="1531254"/>
            <a:ext cx="7233553" cy="34163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dim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( ): retorna as dimensões da base de dados (linhas x colunas) </a:t>
            </a: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names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( ): retorna o nome das colunas/variáveis 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head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( ): retorna os primeiros valores da base de dados (default = 5, mas passível de alteração) 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tail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( ): retorna os últimos valores da base de dados (default = 5, mas passível de alteração) 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str</a:t>
            </a: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( ): retorna a estrutura da base de dados, indicando as dimensões e o tipo de cada variável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BA9E7-60DD-2FCD-E8D5-B49DD934E8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23" y="1123834"/>
            <a:ext cx="2947486" cy="460117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 algn="ctr"/>
            <a:r>
              <a:rPr lang="pt-BR">
                <a:solidFill>
                  <a:srgbClr val="1A616F"/>
                </a:solidFill>
              </a:rPr>
              <a:t>R base</a:t>
            </a:r>
            <a:br>
              <a:rPr lang="pt-BR"/>
            </a:br>
            <a:r>
              <a:rPr lang="pt-BR"/>
              <a:t>Operações básicas</a:t>
            </a:r>
          </a:p>
        </p:txBody>
      </p:sp>
      <p:sp>
        <p:nvSpPr>
          <p:cNvPr id="3" name="CaixaDeTexto 3">
            <a:extLst>
              <a:ext uri="{FF2B5EF4-FFF2-40B4-BE49-F238E27FC236}">
                <a16:creationId xmlns:a16="http://schemas.microsoft.com/office/drawing/2014/main" id="{5D1D1886-9D98-FAA3-B52B-970636620705}"/>
              </a:ext>
            </a:extLst>
          </p:cNvPr>
          <p:cNvSpPr txBox="1"/>
          <p:nvPr/>
        </p:nvSpPr>
        <p:spPr>
          <a:xfrm>
            <a:off x="3917792" y="1414183"/>
            <a:ext cx="6978188" cy="452431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Seleção</a:t>
            </a: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 de variáveis</a:t>
            </a:r>
            <a:endParaRPr lang="pt-BR" sz="2400" b="1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meus_dados[ , 1 ]			ou		meus_dados[ , 2:3 ]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meus_dados[ , “raca” ]		ou		meus_dados[ , c(“rend”, “raca") ]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Filtro</a:t>
            </a:r>
            <a:r>
              <a:rPr lang="pt-BR" sz="18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 </a:t>
            </a: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de casos</a:t>
            </a:r>
            <a:endParaRPr lang="pt-BR" sz="1800" b="1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meus_dados[ , “raca” ] == “branca”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meus_dados$raca == “branca”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Renomear </a:t>
            </a: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variáveis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colnames( dados ) &lt;- novos_nomes</a:t>
            </a:r>
          </a:p>
        </p:txBody>
      </p:sp>
      <p:sp>
        <p:nvSpPr>
          <p:cNvPr id="4" name="Espaço Reservado para Número de Slide 4">
            <a:extLst>
              <a:ext uri="{FF2B5EF4-FFF2-40B4-BE49-F238E27FC236}">
                <a16:creationId xmlns:a16="http://schemas.microsoft.com/office/drawing/2014/main" id="{680C44C0-1F7F-CAAF-32CD-83A6AD0FCAA3}"/>
              </a:ext>
            </a:extLst>
          </p:cNvPr>
          <p:cNvSpPr txBox="1"/>
          <p:nvPr/>
        </p:nvSpPr>
        <p:spPr>
          <a:xfrm>
            <a:off x="10661071" y="6374044"/>
            <a:ext cx="1530925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C587841-D258-4091-A0AE-1BFEEE8CDC31}" type="slidenum">
              <a:rPr lang="en-US" sz="3600" b="1" i="0" u="none" strike="noStrike" kern="1200" cap="none" spc="0" baseline="0">
                <a:solidFill>
                  <a:srgbClr val="40BAD2"/>
                </a:solidFill>
                <a:uFillTx/>
                <a:latin typeface="Corbel"/>
              </a:rPr>
              <a:t>8</a:t>
            </a:fld>
            <a:endParaRPr lang="en-US" sz="3600" b="1" i="0" u="none" strike="noStrike" kern="1200" cap="none" spc="0" baseline="0">
              <a:solidFill>
                <a:srgbClr val="40BAD2"/>
              </a:solidFill>
              <a:uFillTx/>
              <a:latin typeface="Corbel"/>
            </a:endParaRPr>
          </a:p>
        </p:txBody>
      </p:sp>
      <p:sp>
        <p:nvSpPr>
          <p:cNvPr id="5" name="CaixaDeTexto 5">
            <a:extLst>
              <a:ext uri="{FF2B5EF4-FFF2-40B4-BE49-F238E27FC236}">
                <a16:creationId xmlns:a16="http://schemas.microsoft.com/office/drawing/2014/main" id="{C8CC4F23-548D-F1D1-A234-18E572383998}"/>
              </a:ext>
            </a:extLst>
          </p:cNvPr>
          <p:cNvSpPr txBox="1"/>
          <p:nvPr/>
        </p:nvSpPr>
        <p:spPr>
          <a:xfrm>
            <a:off x="3913357" y="476210"/>
            <a:ext cx="7654927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Manuseio dos dados com R base: seleção e filtro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41B0B-22F4-AAE0-F09B-2E7B9609E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23" y="1123834"/>
            <a:ext cx="2947486" cy="460117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 algn="ctr"/>
            <a:r>
              <a:rPr lang="pt-BR">
                <a:solidFill>
                  <a:srgbClr val="1A616F"/>
                </a:solidFill>
              </a:rPr>
              <a:t>tidyverse</a:t>
            </a:r>
            <a:br>
              <a:rPr lang="pt-BR"/>
            </a:br>
            <a:r>
              <a:rPr lang="pt-BR"/>
              <a:t>Operações básicas</a:t>
            </a:r>
          </a:p>
        </p:txBody>
      </p:sp>
      <p:sp>
        <p:nvSpPr>
          <p:cNvPr id="3" name="CaixaDeTexto 3">
            <a:extLst>
              <a:ext uri="{FF2B5EF4-FFF2-40B4-BE49-F238E27FC236}">
                <a16:creationId xmlns:a16="http://schemas.microsoft.com/office/drawing/2014/main" id="{B3D5D343-E406-F007-B7B6-D37AA9FB28C2}"/>
              </a:ext>
            </a:extLst>
          </p:cNvPr>
          <p:cNvSpPr txBox="1"/>
          <p:nvPr/>
        </p:nvSpPr>
        <p:spPr>
          <a:xfrm>
            <a:off x="3854826" y="924293"/>
            <a:ext cx="5020924" cy="5632310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Funções</a:t>
            </a:r>
            <a:r>
              <a:rPr lang="pt-BR" sz="24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 ou </a:t>
            </a:r>
            <a:r>
              <a:rPr lang="pt-BR" sz="24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Verbos</a:t>
            </a:r>
            <a:r>
              <a:rPr lang="pt-BR" sz="24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 importantes: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2400" b="1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Seleção</a:t>
            </a: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 de variáveis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meus_dados %&gt;% </a:t>
            </a:r>
            <a:r>
              <a:rPr lang="pt-BR" sz="18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select</a:t>
            </a: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( raca )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Filtro</a:t>
            </a:r>
            <a:r>
              <a:rPr lang="pt-BR" sz="18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 </a:t>
            </a: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de casos</a:t>
            </a:r>
            <a:endParaRPr lang="pt-BR" sz="1800" b="1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meus_dados %&gt;% </a:t>
            </a:r>
            <a:r>
              <a:rPr lang="pt-BR" sz="18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filter</a:t>
            </a: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( raca == “branca” )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Renomear</a:t>
            </a:r>
            <a:r>
              <a:rPr lang="pt-BR" sz="18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 </a:t>
            </a: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variáveis</a:t>
            </a:r>
            <a:endParaRPr lang="pt-BR" sz="1800" b="1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meus_dados %&gt;% </a:t>
            </a:r>
            <a:r>
              <a:rPr lang="pt-BR" sz="18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rename</a:t>
            </a: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( “renda_dom” == rend )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4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Recodificar/mudar</a:t>
            </a:r>
            <a:r>
              <a:rPr lang="pt-BR" sz="18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 </a:t>
            </a: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variáveis</a:t>
            </a:r>
            <a:endParaRPr lang="pt-BR" sz="1800" b="1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meus_dados %&gt;% </a:t>
            </a:r>
            <a:r>
              <a:rPr lang="pt-BR" sz="18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mutate</a:t>
            </a:r>
            <a:r>
              <a:rPr lang="pt-BR" sz="1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( renda2 = rend + 500)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pt-BR" sz="1800" b="0" i="0" u="none" strike="noStrike" kern="1200" cap="none" spc="0" baseline="0">
              <a:solidFill>
                <a:srgbClr val="000000"/>
              </a:solidFill>
              <a:uFillTx/>
              <a:latin typeface="Corbel"/>
            </a:endParaRPr>
          </a:p>
        </p:txBody>
      </p:sp>
      <p:sp>
        <p:nvSpPr>
          <p:cNvPr id="4" name="CaixaDeTexto 2">
            <a:extLst>
              <a:ext uri="{FF2B5EF4-FFF2-40B4-BE49-F238E27FC236}">
                <a16:creationId xmlns:a16="http://schemas.microsoft.com/office/drawing/2014/main" id="{446314CE-028D-D650-CD5B-665248C366FC}"/>
              </a:ext>
            </a:extLst>
          </p:cNvPr>
          <p:cNvSpPr txBox="1"/>
          <p:nvPr/>
        </p:nvSpPr>
        <p:spPr>
          <a:xfrm>
            <a:off x="5866378" y="171413"/>
            <a:ext cx="3130411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Pacote </a:t>
            </a:r>
            <a:r>
              <a:rPr lang="pt-BR" sz="28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TIDYVERSE</a:t>
            </a: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BE705380-EDC2-189D-44CF-3C399C638F64}"/>
              </a:ext>
            </a:extLst>
          </p:cNvPr>
          <p:cNvSpPr txBox="1"/>
          <p:nvPr/>
        </p:nvSpPr>
        <p:spPr>
          <a:xfrm>
            <a:off x="10661071" y="6374044"/>
            <a:ext cx="1530925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FCE8515-2E4F-471C-973F-397B3B9601F4}" type="slidenum">
              <a:rPr lang="en-US" sz="3600" b="1" i="0" u="none" strike="noStrike" kern="1200" cap="none" spc="0" baseline="0">
                <a:solidFill>
                  <a:srgbClr val="40BAD2"/>
                </a:solidFill>
                <a:uFillTx/>
                <a:latin typeface="Corbel"/>
              </a:rPr>
              <a:t>9</a:t>
            </a:fld>
            <a:endParaRPr lang="en-US" sz="3600" b="1" i="0" u="none" strike="noStrike" kern="1200" cap="none" spc="0" baseline="0">
              <a:solidFill>
                <a:srgbClr val="40BAD2"/>
              </a:solidFill>
              <a:uFillTx/>
              <a:latin typeface="Corbe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76D8AB-CDDE-46B0-E33C-AE4BD8E395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2923" y="1123834"/>
            <a:ext cx="2947486" cy="460117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 algn="ctr"/>
            <a:r>
              <a:rPr lang="pt-BR">
                <a:solidFill>
                  <a:srgbClr val="1A616F"/>
                </a:solidFill>
              </a:rPr>
              <a:t>importação</a:t>
            </a:r>
            <a:br>
              <a:rPr lang="pt-BR"/>
            </a:br>
            <a:r>
              <a:rPr lang="pt-BR"/>
              <a:t>R Input Output</a:t>
            </a:r>
          </a:p>
        </p:txBody>
      </p:sp>
      <p:sp>
        <p:nvSpPr>
          <p:cNvPr id="3" name="CaixaDeTexto 4">
            <a:extLst>
              <a:ext uri="{FF2B5EF4-FFF2-40B4-BE49-F238E27FC236}">
                <a16:creationId xmlns:a16="http://schemas.microsoft.com/office/drawing/2014/main" id="{C53EC401-14C5-01FC-4DDE-F28C4640A7F7}"/>
              </a:ext>
            </a:extLst>
          </p:cNvPr>
          <p:cNvSpPr txBox="1"/>
          <p:nvPr/>
        </p:nvSpPr>
        <p:spPr>
          <a:xfrm>
            <a:off x="6090498" y="476210"/>
            <a:ext cx="1879037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Pacote </a:t>
            </a:r>
            <a:r>
              <a:rPr lang="pt-BR" sz="2800" b="1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RIO</a:t>
            </a:r>
          </a:p>
        </p:txBody>
      </p:sp>
      <p:sp>
        <p:nvSpPr>
          <p:cNvPr id="4" name="CaixaDeTexto 5">
            <a:extLst>
              <a:ext uri="{FF2B5EF4-FFF2-40B4-BE49-F238E27FC236}">
                <a16:creationId xmlns:a16="http://schemas.microsoft.com/office/drawing/2014/main" id="{0FA860F8-2797-CC5E-DA6E-B93A1A4127D3}"/>
              </a:ext>
            </a:extLst>
          </p:cNvPr>
          <p:cNvSpPr txBox="1"/>
          <p:nvPr/>
        </p:nvSpPr>
        <p:spPr>
          <a:xfrm>
            <a:off x="3980328" y="1524003"/>
            <a:ext cx="6149440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2800" b="0" i="0" u="none" strike="noStrike" kern="1200" cap="none" spc="0" baseline="0">
                <a:solidFill>
                  <a:srgbClr val="000000"/>
                </a:solidFill>
                <a:uFillTx/>
                <a:latin typeface="Corbel"/>
              </a:rPr>
              <a:t>export( objeto, “endereço_do_arquivo” )</a:t>
            </a:r>
          </a:p>
        </p:txBody>
      </p:sp>
      <p:sp>
        <p:nvSpPr>
          <p:cNvPr id="5" name="Espaço Reservado para Número de Slide 2">
            <a:extLst>
              <a:ext uri="{FF2B5EF4-FFF2-40B4-BE49-F238E27FC236}">
                <a16:creationId xmlns:a16="http://schemas.microsoft.com/office/drawing/2014/main" id="{E0070468-3841-80F2-4218-83A6FF285FE9}"/>
              </a:ext>
            </a:extLst>
          </p:cNvPr>
          <p:cNvSpPr txBox="1"/>
          <p:nvPr/>
        </p:nvSpPr>
        <p:spPr>
          <a:xfrm>
            <a:off x="10661071" y="6374044"/>
            <a:ext cx="1530925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E41AF14-3416-4290-9A20-71992478A282}" type="slidenum">
              <a:rPr lang="en-US" sz="3600" b="1" i="0" u="none" strike="noStrike" kern="1200" cap="none" spc="0" baseline="0">
                <a:solidFill>
                  <a:srgbClr val="40BAD2"/>
                </a:solidFill>
                <a:uFillTx/>
                <a:latin typeface="Corbel"/>
              </a:rPr>
              <a:t>10</a:t>
            </a:fld>
            <a:endParaRPr lang="en-US" sz="3600" b="1" i="0" u="none" strike="noStrike" kern="1200" cap="none" spc="0" baseline="0">
              <a:solidFill>
                <a:srgbClr val="40BAD2"/>
              </a:solidFill>
              <a:uFillTx/>
              <a:latin typeface="Corbe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3E71AB0-8D0A-6C7F-297C-4816F08EF283}"/>
              </a:ext>
            </a:extLst>
          </p:cNvPr>
          <p:cNvSpPr/>
          <p:nvPr/>
        </p:nvSpPr>
        <p:spPr>
          <a:xfrm>
            <a:off x="950259" y="2214283"/>
            <a:ext cx="10488706" cy="2241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dirty="0"/>
              <a:t>Questões técnicas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B0C52B-21FA-04C9-0F20-07DB48C7B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984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0DF3E-1A46-420E-3D73-2D55F96F2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R base x Pacotes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2D84BF-07B5-686C-B61F-D43534DE5F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1701" y="1370705"/>
            <a:ext cx="3474720" cy="24482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b="1" dirty="0"/>
              <a:t>R base</a:t>
            </a:r>
          </a:p>
          <a:p>
            <a:r>
              <a:rPr lang="pt-BR" sz="1800" dirty="0"/>
              <a:t>funções de base do software</a:t>
            </a:r>
          </a:p>
          <a:p>
            <a:endParaRPr lang="pt-BR" sz="1800" dirty="0"/>
          </a:p>
          <a:p>
            <a:r>
              <a:rPr lang="pt-BR" sz="1800" dirty="0"/>
              <a:t>não precisamos instalar após a instalação do software</a:t>
            </a:r>
            <a:endParaRPr lang="pt-BR" sz="600" dirty="0"/>
          </a:p>
          <a:p>
            <a:endParaRPr lang="pt-BR" sz="6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6D7912C-92BB-D9FB-36BD-A8DCFF89F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17303" y="1370704"/>
            <a:ext cx="3474720" cy="244826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800" b="1" dirty="0"/>
              <a:t>Pacotes externos</a:t>
            </a:r>
          </a:p>
          <a:p>
            <a:r>
              <a:rPr lang="pt-BR" dirty="0"/>
              <a:t>pacotes com funções alternativas programadas pela comunidade</a:t>
            </a:r>
          </a:p>
          <a:p>
            <a:endParaRPr lang="pt-BR" dirty="0"/>
          </a:p>
          <a:p>
            <a:r>
              <a:rPr lang="pt-BR" dirty="0"/>
              <a:t>precisamos instalar e carregar sempre que preciso usar no código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F9BD9A8-C4DF-3E77-164C-00D5956BC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963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F18DD2-933E-38F0-5505-895845595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Os formatos de arquivos mais comuns são:</a:t>
            </a:r>
          </a:p>
          <a:p>
            <a:pPr marL="0" indent="0">
              <a:buNone/>
            </a:pPr>
            <a:r>
              <a:rPr lang="pt-BR" b="1" dirty="0"/>
              <a:t>CSV</a:t>
            </a:r>
            <a:r>
              <a:rPr lang="pt-BR" dirty="0"/>
              <a:t> – </a:t>
            </a:r>
            <a:r>
              <a:rPr lang="pt-BR" dirty="0" err="1"/>
              <a:t>Comma</a:t>
            </a:r>
            <a:r>
              <a:rPr lang="pt-BR" dirty="0"/>
              <a:t> </a:t>
            </a:r>
            <a:r>
              <a:rPr lang="pt-BR" dirty="0" err="1"/>
              <a:t>Separated</a:t>
            </a:r>
            <a:r>
              <a:rPr lang="pt-BR" dirty="0"/>
              <a:t> </a:t>
            </a:r>
            <a:r>
              <a:rPr lang="pt-BR" dirty="0" err="1"/>
              <a:t>Values</a:t>
            </a:r>
            <a:r>
              <a:rPr lang="pt-BR" dirty="0"/>
              <a:t> : arquivos separados por vírgulas</a:t>
            </a:r>
          </a:p>
          <a:p>
            <a:pPr marL="0" indent="0">
              <a:buNone/>
            </a:pPr>
            <a:r>
              <a:rPr lang="pt-BR" b="1" dirty="0"/>
              <a:t>CSV2</a:t>
            </a:r>
            <a:r>
              <a:rPr lang="pt-BR" dirty="0"/>
              <a:t> : adequado ao alfabeto latino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XLS</a:t>
            </a:r>
            <a:r>
              <a:rPr lang="pt-BR" dirty="0"/>
              <a:t> e </a:t>
            </a:r>
            <a:r>
              <a:rPr lang="pt-BR" b="1" dirty="0"/>
              <a:t>XLSX</a:t>
            </a:r>
            <a:r>
              <a:rPr lang="pt-BR" dirty="0"/>
              <a:t> : Excel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SAV</a:t>
            </a:r>
            <a:r>
              <a:rPr lang="pt-BR" dirty="0"/>
              <a:t> : SPSS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/>
              <a:t>DTA</a:t>
            </a:r>
            <a:r>
              <a:rPr lang="pt-BR" dirty="0"/>
              <a:t>: STATA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Especificamos para o computador o formato do nosso arquivo pela extensão acrescia após o ponto</a:t>
            </a:r>
          </a:p>
          <a:p>
            <a:pPr marL="0" indent="0">
              <a:buNone/>
            </a:pPr>
            <a:r>
              <a:rPr lang="pt-BR" dirty="0"/>
              <a:t>arquivo.csv</a:t>
            </a:r>
          </a:p>
          <a:p>
            <a:pPr marL="0" indent="0">
              <a:buNone/>
            </a:pPr>
            <a:r>
              <a:rPr lang="pt-BR" dirty="0"/>
              <a:t>arquivo.xlsx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1CCBD6-8090-4724-B279-EAB81542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ADBBBE4-7A6D-48D9-D070-2210B59223A2}"/>
              </a:ext>
            </a:extLst>
          </p:cNvPr>
          <p:cNvSpPr txBox="1">
            <a:spLocks/>
          </p:cNvSpPr>
          <p:nvPr/>
        </p:nvSpPr>
        <p:spPr>
          <a:xfrm>
            <a:off x="0" y="2374928"/>
            <a:ext cx="3433482" cy="14440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Questões técnicas</a:t>
            </a:r>
          </a:p>
          <a:p>
            <a:pPr algn="ctr"/>
            <a:endParaRPr lang="pt-BR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pt-BR" dirty="0">
                <a:solidFill>
                  <a:schemeClr val="bg1"/>
                </a:solidFill>
              </a:rPr>
              <a:t>Extensões</a:t>
            </a:r>
          </a:p>
        </p:txBody>
      </p:sp>
    </p:spTree>
    <p:extLst>
      <p:ext uri="{BB962C8B-B14F-4D97-AF65-F5344CB8AC3E}">
        <p14:creationId xmlns:p14="http://schemas.microsoft.com/office/powerpoint/2010/main" val="3022491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F18DD2-933E-38F0-5505-895845595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 err="1"/>
              <a:t>Encoding</a:t>
            </a:r>
            <a:r>
              <a:rPr lang="pt-BR" dirty="0"/>
              <a:t> é como as informações são codificadas para o formato binário.</a:t>
            </a:r>
          </a:p>
          <a:p>
            <a:pPr marL="0" indent="0">
              <a:buNone/>
            </a:pPr>
            <a:r>
              <a:rPr lang="pt-BR" dirty="0"/>
              <a:t>Como sabemos, o computador lê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0 e 1. </a:t>
            </a:r>
            <a:r>
              <a:rPr lang="pt-BR" dirty="0"/>
              <a:t>Portanto, toda informação (incluso alfabetos) é codificada nesses valores. Alguns </a:t>
            </a:r>
            <a:r>
              <a:rPr lang="pt-BR" dirty="0" err="1"/>
              <a:t>encodings</a:t>
            </a:r>
            <a:r>
              <a:rPr lang="pt-BR" dirty="0"/>
              <a:t> (principalmente os padrão inglês) não têm códigos para representar o alfabeto latino e sinais específicos. Por isso, caso tenhamos alfabeto latino, temos que especificar.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read.csv( arquivo , </a:t>
            </a:r>
            <a:r>
              <a:rPr lang="pt-BR" dirty="0" err="1"/>
              <a:t>fileEncoding</a:t>
            </a:r>
            <a:r>
              <a:rPr lang="pt-BR" dirty="0"/>
              <a:t> = “Latin1”)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Isso para lidar com valores latinos nos dados. No código, eventualmente temos que abrir especificando o </a:t>
            </a:r>
            <a:r>
              <a:rPr lang="pt-BR" dirty="0" err="1"/>
              <a:t>encoding</a:t>
            </a:r>
            <a:r>
              <a:rPr lang="pt-BR" dirty="0"/>
              <a:t> também.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1CCBD6-8090-4724-B279-EAB81542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ADBBBE4-7A6D-48D9-D070-2210B59223A2}"/>
              </a:ext>
            </a:extLst>
          </p:cNvPr>
          <p:cNvSpPr txBox="1">
            <a:spLocks/>
          </p:cNvSpPr>
          <p:nvPr/>
        </p:nvSpPr>
        <p:spPr>
          <a:xfrm>
            <a:off x="0" y="2141846"/>
            <a:ext cx="3433482" cy="14440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Questões técnicas</a:t>
            </a:r>
          </a:p>
          <a:p>
            <a:pPr algn="ctr"/>
            <a:endParaRPr lang="pt-BR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pt-BR" dirty="0" err="1">
                <a:solidFill>
                  <a:schemeClr val="bg1"/>
                </a:solidFill>
              </a:rPr>
              <a:t>Encoding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A82CA4B-CBB2-EE09-0894-E898FB42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88" y="3911928"/>
            <a:ext cx="3063505" cy="207282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6D777AEB-0D6F-872F-3C04-47363400FD03}"/>
              </a:ext>
            </a:extLst>
          </p:cNvPr>
          <p:cNvSpPr/>
          <p:nvPr/>
        </p:nvSpPr>
        <p:spPr>
          <a:xfrm>
            <a:off x="184988" y="5468471"/>
            <a:ext cx="1823106" cy="2061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13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7D6AC-4462-BAC1-091E-EE3DD4CE5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D14F1BC-F616-1D90-1AFB-E581C59BAECD}"/>
              </a:ext>
            </a:extLst>
          </p:cNvPr>
          <p:cNvSpPr/>
          <p:nvPr/>
        </p:nvSpPr>
        <p:spPr>
          <a:xfrm>
            <a:off x="950262" y="2214283"/>
            <a:ext cx="10488707" cy="2241176"/>
          </a:xfrm>
          <a:prstGeom prst="rect">
            <a:avLst/>
          </a:prstGeom>
          <a:solidFill>
            <a:srgbClr val="40BAD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4800" b="0" i="0" u="none" strike="noStrike" kern="1200" cap="none" spc="0" baseline="0" dirty="0">
                <a:solidFill>
                  <a:srgbClr val="FFFFFF"/>
                </a:solidFill>
                <a:uFillTx/>
                <a:latin typeface="Corbel"/>
              </a:rPr>
              <a:t>Manuseio de dados com </a:t>
            </a:r>
            <a:r>
              <a:rPr lang="pt-BR" sz="4800" b="0" i="1" u="none" strike="noStrike" kern="1200" cap="none" spc="0" baseline="0" dirty="0" err="1">
                <a:solidFill>
                  <a:srgbClr val="FFFFFF"/>
                </a:solidFill>
                <a:uFillTx/>
                <a:latin typeface="Corbel"/>
              </a:rPr>
              <a:t>tidyverse</a:t>
            </a:r>
            <a:endParaRPr lang="pt-BR" sz="1800" b="0" i="1" u="none" strike="noStrike" kern="1200" cap="none" spc="0" baseline="0" dirty="0">
              <a:solidFill>
                <a:srgbClr val="FFFFFF"/>
              </a:solidFill>
              <a:uFillTx/>
              <a:latin typeface="Corbel"/>
            </a:endParaRPr>
          </a:p>
        </p:txBody>
      </p:sp>
      <p:sp>
        <p:nvSpPr>
          <p:cNvPr id="3" name="Espaço Reservado para Número de Slide 3">
            <a:extLst>
              <a:ext uri="{FF2B5EF4-FFF2-40B4-BE49-F238E27FC236}">
                <a16:creationId xmlns:a16="http://schemas.microsoft.com/office/drawing/2014/main" id="{154D29C6-6B0B-D70C-3DE7-8BABE181D2F6}"/>
              </a:ext>
            </a:extLst>
          </p:cNvPr>
          <p:cNvSpPr txBox="1"/>
          <p:nvPr/>
        </p:nvSpPr>
        <p:spPr>
          <a:xfrm>
            <a:off x="10634133" y="6356351"/>
            <a:ext cx="1530925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F5FA587-1F4F-43E2-86EA-28DD5C352AAF}" type="slidenum">
              <a:rPr lang="en-US" sz="1200" b="1" i="0" u="none" strike="noStrike" kern="1200" cap="none" spc="0" baseline="0">
                <a:solidFill>
                  <a:srgbClr val="40BAD2"/>
                </a:solidFill>
                <a:uFillTx/>
                <a:latin typeface="Corbel"/>
              </a:rPr>
              <a:t>15</a:t>
            </a:fld>
            <a:endParaRPr lang="en-US" sz="1200" b="1" i="0" u="none" strike="noStrike" kern="1200" cap="none" spc="0" baseline="0">
              <a:solidFill>
                <a:srgbClr val="40BAD2"/>
              </a:solidFill>
              <a:uFillTx/>
              <a:latin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506618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73FE6-C019-0189-AAF8-17B628057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379B9C-D52A-1CF5-55E6-56AC39BAF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9295143-94B4-E46F-0BAF-425511E6C0F3}"/>
              </a:ext>
            </a:extLst>
          </p:cNvPr>
          <p:cNvSpPr txBox="1">
            <a:spLocks/>
          </p:cNvSpPr>
          <p:nvPr/>
        </p:nvSpPr>
        <p:spPr>
          <a:xfrm>
            <a:off x="0" y="1791478"/>
            <a:ext cx="3433482" cy="4077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i="1" dirty="0" err="1">
                <a:solidFill>
                  <a:schemeClr val="accent1">
                    <a:lumMod val="50000"/>
                  </a:schemeClr>
                </a:solidFill>
              </a:rPr>
              <a:t>tidyverse</a:t>
            </a:r>
            <a:endParaRPr lang="pt-BR" i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t-BR" i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pt-BR" i="1" dirty="0" err="1">
                <a:solidFill>
                  <a:schemeClr val="accent1">
                    <a:lumMod val="50000"/>
                  </a:schemeClr>
                </a:solidFill>
              </a:rPr>
              <a:t>pipe</a:t>
            </a:r>
            <a:endParaRPr lang="pt-BR" i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t-BR" i="1" dirty="0">
              <a:solidFill>
                <a:schemeClr val="bg1"/>
              </a:solidFill>
            </a:endParaRP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76A29C38-B7AE-6151-90CF-0F35AC818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316" y="842601"/>
            <a:ext cx="8279189" cy="51727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800" b="1" dirty="0"/>
              <a:t>Pipe</a:t>
            </a:r>
            <a:endParaRPr lang="pt-BR" b="1" dirty="0"/>
          </a:p>
          <a:p>
            <a:r>
              <a:rPr lang="pt-BR" dirty="0"/>
              <a:t>O </a:t>
            </a:r>
            <a:r>
              <a:rPr lang="pt-BR" dirty="0" err="1"/>
              <a:t>pipe</a:t>
            </a:r>
            <a:r>
              <a:rPr lang="pt-BR" dirty="0"/>
              <a:t> %&gt;% é um operador que permite encadear várias operações de forma sequencial e legível.</a:t>
            </a:r>
          </a:p>
          <a:p>
            <a:r>
              <a:rPr lang="pt-BR" dirty="0"/>
              <a:t>Ele foi popularizado pelo pacote </a:t>
            </a:r>
            <a:r>
              <a:rPr lang="pt-BR" dirty="0" err="1"/>
              <a:t>magrittr</a:t>
            </a:r>
            <a:r>
              <a:rPr lang="pt-BR" dirty="0"/>
              <a:t> e é amplamente utilizado no </a:t>
            </a:r>
            <a:r>
              <a:rPr lang="pt-BR" dirty="0" err="1"/>
              <a:t>tidyverse</a:t>
            </a:r>
            <a:r>
              <a:rPr lang="pt-BR" dirty="0"/>
              <a:t>.</a:t>
            </a:r>
          </a:p>
          <a:p>
            <a:r>
              <a:rPr lang="pt-BR" dirty="0"/>
              <a:t>A ideia central é passar o resultado de uma função diretamente para a próxima.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5766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BD681-4796-9670-06ED-6B40A2DA8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78DB47E-46D8-9B96-E371-806B9A9D2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1AB4A03-A0B4-895F-318F-4EFF5ECF6238}"/>
              </a:ext>
            </a:extLst>
          </p:cNvPr>
          <p:cNvSpPr txBox="1">
            <a:spLocks/>
          </p:cNvSpPr>
          <p:nvPr/>
        </p:nvSpPr>
        <p:spPr>
          <a:xfrm>
            <a:off x="0" y="1791478"/>
            <a:ext cx="3433482" cy="4077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i="1" dirty="0" err="1">
                <a:solidFill>
                  <a:schemeClr val="accent1">
                    <a:lumMod val="50000"/>
                  </a:schemeClr>
                </a:solidFill>
              </a:rPr>
              <a:t>select</a:t>
            </a:r>
            <a:endParaRPr lang="pt-BR" i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t-BR" i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pt-BR" i="1" dirty="0" err="1">
                <a:solidFill>
                  <a:schemeClr val="accent1">
                    <a:lumMod val="50000"/>
                  </a:schemeClr>
                </a:solidFill>
              </a:rPr>
              <a:t>filter</a:t>
            </a:r>
            <a:endParaRPr lang="pt-BR" i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t-BR" i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pt-BR" i="1" dirty="0" err="1">
                <a:solidFill>
                  <a:schemeClr val="accent1">
                    <a:lumMod val="50000"/>
                  </a:schemeClr>
                </a:solidFill>
              </a:rPr>
              <a:t>rename</a:t>
            </a:r>
            <a:endParaRPr lang="pt-BR" i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t-BR" i="1" dirty="0">
              <a:solidFill>
                <a:schemeClr val="bg1"/>
              </a:solidFill>
            </a:endParaRP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CE3EB41-4408-A8C0-5BDE-9D0DA0693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316" y="842601"/>
            <a:ext cx="8279189" cy="51727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Se o </a:t>
            </a:r>
            <a:r>
              <a:rPr lang="pt-BR" b="1" dirty="0"/>
              <a:t>R</a:t>
            </a:r>
            <a:r>
              <a:rPr lang="pt-BR" dirty="0"/>
              <a:t> é uma linguagem, as funções são como os verbos.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pacote </a:t>
            </a:r>
            <a:r>
              <a:rPr lang="pt-BR" dirty="0" err="1"/>
              <a:t>tidyverse</a:t>
            </a:r>
            <a:r>
              <a:rPr lang="pt-BR" dirty="0"/>
              <a:t> oferece um léxico de funções com as quais podemos manusear nossos dados.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b="1" dirty="0" err="1"/>
              <a:t>select</a:t>
            </a:r>
            <a:r>
              <a:rPr lang="pt-BR" dirty="0"/>
              <a:t>( COLUNAS ) : função para selecionar colunas/variáveis</a:t>
            </a:r>
          </a:p>
          <a:p>
            <a:r>
              <a:rPr lang="pt-BR" b="1" dirty="0" err="1"/>
              <a:t>filter</a:t>
            </a:r>
            <a:r>
              <a:rPr lang="pt-BR" dirty="0"/>
              <a:t>( TESTE LÓGICO PARA LINHAS ): função para filtrar casos</a:t>
            </a:r>
          </a:p>
          <a:p>
            <a:r>
              <a:rPr lang="pt-BR" b="1" dirty="0" err="1"/>
              <a:t>rename</a:t>
            </a:r>
            <a:r>
              <a:rPr lang="pt-BR" dirty="0"/>
              <a:t>( </a:t>
            </a:r>
            <a:r>
              <a:rPr lang="pt-BR" dirty="0" err="1"/>
              <a:t>nome_novo</a:t>
            </a:r>
            <a:r>
              <a:rPr lang="pt-BR" dirty="0"/>
              <a:t> = </a:t>
            </a:r>
            <a:r>
              <a:rPr lang="pt-BR" dirty="0" err="1"/>
              <a:t>nome_antigo</a:t>
            </a:r>
            <a:r>
              <a:rPr lang="pt-BR" dirty="0"/>
              <a:t> ): função para renomear colunas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8512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9C30C-1171-49A0-E740-518FE89F5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D6EF5C-0D54-0051-843A-BD304A678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993892"/>
          </a:xfrm>
        </p:spPr>
        <p:txBody>
          <a:bodyPr>
            <a:normAutofit/>
          </a:bodyPr>
          <a:lstStyle/>
          <a:p>
            <a:r>
              <a:rPr lang="pt-BR" b="1" dirty="0" err="1"/>
              <a:t>Mutate</a:t>
            </a:r>
            <a:r>
              <a:rPr lang="pt-BR" dirty="0"/>
              <a:t> </a:t>
            </a:r>
          </a:p>
          <a:p>
            <a:r>
              <a:rPr lang="pt-BR" dirty="0"/>
              <a:t>A função </a:t>
            </a:r>
            <a:r>
              <a:rPr lang="pt-BR" dirty="0" err="1"/>
              <a:t>mutate</a:t>
            </a:r>
            <a:r>
              <a:rPr lang="pt-BR" dirty="0"/>
              <a:t>() é utilizada para criar novas variáveis ou modificar variáveis existentes em um data frame.</a:t>
            </a:r>
          </a:p>
          <a:p>
            <a:r>
              <a:rPr lang="pt-BR" dirty="0"/>
              <a:t>Ela mantém todas as colunas originais e adiciona ou altera colunas com base em cálculos ou transformações.</a:t>
            </a:r>
          </a:p>
          <a:p>
            <a:r>
              <a:rPr lang="pt-BR" b="1" dirty="0" err="1"/>
              <a:t>mutate</a:t>
            </a:r>
            <a:r>
              <a:rPr lang="pt-BR" dirty="0"/>
              <a:t>(dados, </a:t>
            </a:r>
            <a:r>
              <a:rPr lang="pt-BR" dirty="0" err="1"/>
              <a:t>nova_variavel</a:t>
            </a:r>
            <a:r>
              <a:rPr lang="pt-BR" dirty="0"/>
              <a:t> = </a:t>
            </a:r>
            <a:r>
              <a:rPr lang="pt-BR" dirty="0" err="1"/>
              <a:t>operacao</a:t>
            </a:r>
            <a:r>
              <a:rPr lang="pt-BR" dirty="0"/>
              <a:t>)</a:t>
            </a:r>
          </a:p>
          <a:p>
            <a:r>
              <a:rPr lang="pt-BR" dirty="0"/>
              <a:t>dados %&gt;% </a:t>
            </a:r>
            <a:r>
              <a:rPr lang="pt-BR" dirty="0" err="1"/>
              <a:t>mutate</a:t>
            </a:r>
            <a:r>
              <a:rPr lang="pt-BR" dirty="0"/>
              <a:t>(</a:t>
            </a:r>
            <a:r>
              <a:rPr lang="pt-BR" dirty="0" err="1"/>
              <a:t>nova_variavel</a:t>
            </a:r>
            <a:r>
              <a:rPr lang="pt-BR" dirty="0"/>
              <a:t> = </a:t>
            </a:r>
            <a:r>
              <a:rPr lang="pt-BR" dirty="0" err="1"/>
              <a:t>operacao</a:t>
            </a:r>
            <a:r>
              <a:rPr lang="pt-BR" dirty="0"/>
              <a:t>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 err="1"/>
              <a:t>Recode</a:t>
            </a:r>
            <a:endParaRPr lang="pt-BR" b="1" dirty="0"/>
          </a:p>
          <a:p>
            <a:r>
              <a:rPr lang="pt-BR" dirty="0"/>
              <a:t>A função </a:t>
            </a:r>
            <a:r>
              <a:rPr lang="pt-BR" dirty="0" err="1"/>
              <a:t>recode</a:t>
            </a:r>
            <a:r>
              <a:rPr lang="pt-BR" dirty="0"/>
              <a:t>() é utilizada para substituir valores específicos de uma variável. É muito útil quando queremos renomear categorias ou corrigir códigos.</a:t>
            </a:r>
          </a:p>
          <a:p>
            <a:r>
              <a:rPr lang="pt-BR" b="1" dirty="0" err="1"/>
              <a:t>recode</a:t>
            </a:r>
            <a:r>
              <a:rPr lang="pt-BR" dirty="0"/>
              <a:t>(</a:t>
            </a:r>
            <a:r>
              <a:rPr lang="pt-BR" dirty="0" err="1"/>
              <a:t>variavel</a:t>
            </a:r>
            <a:r>
              <a:rPr lang="pt-BR" dirty="0"/>
              <a:t>, "</a:t>
            </a:r>
            <a:r>
              <a:rPr lang="pt-BR" dirty="0" err="1"/>
              <a:t>valor_antigo</a:t>
            </a:r>
            <a:r>
              <a:rPr lang="pt-BR" dirty="0"/>
              <a:t>" = "</a:t>
            </a:r>
            <a:r>
              <a:rPr lang="pt-BR" dirty="0" err="1"/>
              <a:t>valor_novo</a:t>
            </a:r>
            <a:r>
              <a:rPr lang="pt-BR" dirty="0"/>
              <a:t>")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E5156F-5F81-E9C6-786E-D902A893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DC42346-D51B-019F-1175-F5160CABCF85}"/>
              </a:ext>
            </a:extLst>
          </p:cNvPr>
          <p:cNvSpPr txBox="1">
            <a:spLocks/>
          </p:cNvSpPr>
          <p:nvPr/>
        </p:nvSpPr>
        <p:spPr>
          <a:xfrm>
            <a:off x="0" y="1791478"/>
            <a:ext cx="3433482" cy="4077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i="1" dirty="0" err="1">
                <a:solidFill>
                  <a:schemeClr val="accent1">
                    <a:lumMod val="50000"/>
                  </a:schemeClr>
                </a:solidFill>
              </a:rPr>
              <a:t>mutate</a:t>
            </a:r>
            <a:endParaRPr lang="pt-BR" i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t-BR" i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pt-BR" i="1" dirty="0" err="1">
                <a:solidFill>
                  <a:schemeClr val="accent1">
                    <a:lumMod val="50000"/>
                  </a:schemeClr>
                </a:solidFill>
              </a:rPr>
              <a:t>recode</a:t>
            </a:r>
            <a:endParaRPr lang="pt-BR" i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t-BR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929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BD9D4-CDB4-56ED-0E26-8A87F456C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D25B76-60C9-BE5A-C392-358256EE2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993892"/>
          </a:xfrm>
        </p:spPr>
        <p:txBody>
          <a:bodyPr>
            <a:normAutofit/>
          </a:bodyPr>
          <a:lstStyle/>
          <a:p>
            <a:r>
              <a:rPr lang="pt-BR" b="1" dirty="0" err="1"/>
              <a:t>Mutate</a:t>
            </a:r>
            <a:r>
              <a:rPr lang="pt-BR" dirty="0"/>
              <a:t> </a:t>
            </a:r>
          </a:p>
          <a:p>
            <a:r>
              <a:rPr lang="pt-BR" dirty="0"/>
              <a:t>A função </a:t>
            </a:r>
            <a:r>
              <a:rPr lang="pt-BR" dirty="0" err="1"/>
              <a:t>mutate</a:t>
            </a:r>
            <a:r>
              <a:rPr lang="pt-BR" dirty="0"/>
              <a:t>() é utilizada para criar novas variáveis ou modificar variáveis existentes em um data frame.</a:t>
            </a:r>
          </a:p>
          <a:p>
            <a:r>
              <a:rPr lang="pt-BR" dirty="0"/>
              <a:t>Ela mantém todas as colunas originais e adiciona ou altera colunas com base em cálculos ou transformações.</a:t>
            </a:r>
          </a:p>
          <a:p>
            <a:r>
              <a:rPr lang="pt-BR" b="1" dirty="0" err="1"/>
              <a:t>mutate</a:t>
            </a:r>
            <a:r>
              <a:rPr lang="pt-BR" dirty="0"/>
              <a:t>(dados, </a:t>
            </a:r>
            <a:r>
              <a:rPr lang="pt-BR" dirty="0" err="1"/>
              <a:t>nova_variavel</a:t>
            </a:r>
            <a:r>
              <a:rPr lang="pt-BR" dirty="0"/>
              <a:t> = </a:t>
            </a:r>
            <a:r>
              <a:rPr lang="pt-BR" dirty="0" err="1"/>
              <a:t>operacao</a:t>
            </a:r>
            <a:r>
              <a:rPr lang="pt-BR" dirty="0"/>
              <a:t>)</a:t>
            </a:r>
          </a:p>
          <a:p>
            <a:r>
              <a:rPr lang="pt-BR" dirty="0"/>
              <a:t>dados %&gt;% </a:t>
            </a:r>
            <a:r>
              <a:rPr lang="pt-BR" dirty="0" err="1"/>
              <a:t>mutate</a:t>
            </a:r>
            <a:r>
              <a:rPr lang="pt-BR" dirty="0"/>
              <a:t>(</a:t>
            </a:r>
            <a:r>
              <a:rPr lang="pt-BR" dirty="0" err="1"/>
              <a:t>nova_variavel</a:t>
            </a:r>
            <a:r>
              <a:rPr lang="pt-BR" dirty="0"/>
              <a:t> = </a:t>
            </a:r>
            <a:r>
              <a:rPr lang="pt-BR" dirty="0" err="1"/>
              <a:t>operacao</a:t>
            </a:r>
            <a:r>
              <a:rPr lang="pt-BR" dirty="0"/>
              <a:t>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b="1" dirty="0" err="1"/>
              <a:t>Recode</a:t>
            </a:r>
            <a:endParaRPr lang="pt-BR" b="1" dirty="0"/>
          </a:p>
          <a:p>
            <a:r>
              <a:rPr lang="pt-BR" dirty="0"/>
              <a:t>A função </a:t>
            </a:r>
            <a:r>
              <a:rPr lang="pt-BR" dirty="0" err="1"/>
              <a:t>recode</a:t>
            </a:r>
            <a:r>
              <a:rPr lang="pt-BR" dirty="0"/>
              <a:t>() é utilizada para substituir valores específicos de uma variável. É muito útil quando queremos renomear categorias ou corrigir códigos.</a:t>
            </a:r>
          </a:p>
          <a:p>
            <a:r>
              <a:rPr lang="pt-BR" b="1" dirty="0" err="1"/>
              <a:t>recode</a:t>
            </a:r>
            <a:r>
              <a:rPr lang="pt-BR" dirty="0"/>
              <a:t>(</a:t>
            </a:r>
            <a:r>
              <a:rPr lang="pt-BR" dirty="0" err="1"/>
              <a:t>variavel</a:t>
            </a:r>
            <a:r>
              <a:rPr lang="pt-BR" dirty="0"/>
              <a:t>, "</a:t>
            </a:r>
            <a:r>
              <a:rPr lang="pt-BR" dirty="0" err="1"/>
              <a:t>valor_antigo</a:t>
            </a:r>
            <a:r>
              <a:rPr lang="pt-BR" dirty="0"/>
              <a:t>" = "</a:t>
            </a:r>
            <a:r>
              <a:rPr lang="pt-BR" dirty="0" err="1"/>
              <a:t>valor_novo</a:t>
            </a:r>
            <a:r>
              <a:rPr lang="pt-BR" dirty="0"/>
              <a:t>")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C56E65-2BC9-78BE-B347-1B1F4FE02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B22EBA3-3B63-B28C-878A-CC21B1118590}"/>
              </a:ext>
            </a:extLst>
          </p:cNvPr>
          <p:cNvSpPr txBox="1">
            <a:spLocks/>
          </p:cNvSpPr>
          <p:nvPr/>
        </p:nvSpPr>
        <p:spPr>
          <a:xfrm>
            <a:off x="0" y="1791478"/>
            <a:ext cx="3433482" cy="4077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i="1" dirty="0" err="1">
                <a:solidFill>
                  <a:schemeClr val="accent1">
                    <a:lumMod val="50000"/>
                  </a:schemeClr>
                </a:solidFill>
              </a:rPr>
              <a:t>mutate</a:t>
            </a:r>
            <a:endParaRPr lang="pt-BR" i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t-BR" i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pt-BR" i="1" dirty="0" err="1">
                <a:solidFill>
                  <a:schemeClr val="accent1">
                    <a:lumMod val="50000"/>
                  </a:schemeClr>
                </a:solidFill>
              </a:rPr>
              <a:t>recode</a:t>
            </a:r>
            <a:endParaRPr lang="pt-BR" i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t-BR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165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31ADA-ACC0-4149-61D0-6BB1388F6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697837-ACC3-42DF-E29C-4808FF284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993892"/>
          </a:xfrm>
        </p:spPr>
        <p:txBody>
          <a:bodyPr>
            <a:normAutofit/>
          </a:bodyPr>
          <a:lstStyle/>
          <a:p>
            <a:r>
              <a:rPr lang="pt-BR" b="1" dirty="0" err="1"/>
              <a:t>Group_by</a:t>
            </a:r>
            <a:r>
              <a:rPr lang="pt-BR" b="1" dirty="0"/>
              <a:t> </a:t>
            </a:r>
          </a:p>
          <a:p>
            <a:r>
              <a:rPr lang="pt-BR" dirty="0"/>
              <a:t>A função </a:t>
            </a:r>
            <a:r>
              <a:rPr lang="pt-BR" dirty="0" err="1"/>
              <a:t>group_by</a:t>
            </a:r>
            <a:r>
              <a:rPr lang="pt-BR" dirty="0"/>
              <a:t>() é utilizada para agrupar os dados com base em uma ou mais variáveis.</a:t>
            </a:r>
          </a:p>
          <a:p>
            <a:r>
              <a:rPr lang="pt-BR" dirty="0"/>
              <a:t>Após o agrupamento, muitas operações passam a ser realizadas separadamente para cada grupo.</a:t>
            </a:r>
          </a:p>
          <a:p>
            <a:endParaRPr lang="pt-BR" dirty="0"/>
          </a:p>
          <a:p>
            <a:r>
              <a:rPr lang="pt-BR" b="1" dirty="0" err="1"/>
              <a:t>Summarise</a:t>
            </a:r>
            <a:endParaRPr lang="pt-BR" b="1" dirty="0"/>
          </a:p>
          <a:p>
            <a:r>
              <a:rPr lang="pt-BR" dirty="0"/>
              <a:t>A função </a:t>
            </a:r>
            <a:r>
              <a:rPr lang="pt-BR" dirty="0" err="1"/>
              <a:t>summarise</a:t>
            </a:r>
            <a:r>
              <a:rPr lang="pt-BR" dirty="0"/>
              <a:t>() (ou </a:t>
            </a:r>
            <a:r>
              <a:rPr lang="pt-BR" dirty="0" err="1"/>
              <a:t>summarize</a:t>
            </a:r>
            <a:r>
              <a:rPr lang="pt-BR" dirty="0"/>
              <a:t>()) é utilizada para calcular estatísticas resumidas.</a:t>
            </a:r>
          </a:p>
          <a:p>
            <a:r>
              <a:rPr lang="pt-BR" dirty="0"/>
              <a:t>Ela geralmente é usada em conjunto com </a:t>
            </a:r>
            <a:r>
              <a:rPr lang="pt-BR" dirty="0" err="1"/>
              <a:t>group_by</a:t>
            </a:r>
            <a:r>
              <a:rPr lang="pt-BR" dirty="0"/>
              <a:t>() para produzir resumos por grupo.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E663801-C82C-2919-E970-20B812EA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2C1D056-B257-9784-AAFB-0DDE6EBE2B3A}"/>
              </a:ext>
            </a:extLst>
          </p:cNvPr>
          <p:cNvSpPr txBox="1">
            <a:spLocks/>
          </p:cNvSpPr>
          <p:nvPr/>
        </p:nvSpPr>
        <p:spPr>
          <a:xfrm>
            <a:off x="0" y="1791478"/>
            <a:ext cx="3433482" cy="4077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i="1" dirty="0" err="1">
                <a:solidFill>
                  <a:schemeClr val="accent1">
                    <a:lumMod val="50000"/>
                  </a:schemeClr>
                </a:solidFill>
              </a:rPr>
              <a:t>group_by</a:t>
            </a:r>
            <a:endParaRPr lang="pt-BR" i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t-BR" i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pt-BR" i="1" dirty="0" err="1">
                <a:solidFill>
                  <a:schemeClr val="accent1">
                    <a:lumMod val="50000"/>
                  </a:schemeClr>
                </a:solidFill>
              </a:rPr>
              <a:t>summarise</a:t>
            </a:r>
            <a:endParaRPr lang="pt-BR" i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t-BR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9390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6D8B9-F96C-68C2-741A-AAF3D96B3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10E0E-9206-7E4C-DC25-9AAD77549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812659" cy="580728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2600" b="1" dirty="0"/>
              <a:t>Junção de bases de dados no R</a:t>
            </a:r>
          </a:p>
          <a:p>
            <a:r>
              <a:rPr lang="pt-BR" dirty="0"/>
              <a:t>Em muitas análises é necessário combinar informações de diferentes bases de dados.</a:t>
            </a:r>
          </a:p>
          <a:p>
            <a:r>
              <a:rPr lang="pt-BR" dirty="0"/>
              <a:t>Esse processo é chamado de junção (</a:t>
            </a:r>
            <a:r>
              <a:rPr lang="pt-BR" b="1" dirty="0" err="1"/>
              <a:t>join</a:t>
            </a:r>
            <a:r>
              <a:rPr lang="pt-BR" dirty="0"/>
              <a:t>).</a:t>
            </a:r>
          </a:p>
          <a:p>
            <a:r>
              <a:rPr lang="pt-BR" dirty="0"/>
              <a:t>No R, isso pode ser feito com:</a:t>
            </a:r>
          </a:p>
          <a:p>
            <a:r>
              <a:rPr lang="pt-BR" b="1" dirty="0"/>
              <a:t>merge</a:t>
            </a:r>
            <a:r>
              <a:rPr lang="pt-BR" dirty="0"/>
              <a:t>() → função do R base</a:t>
            </a:r>
          </a:p>
          <a:p>
            <a:r>
              <a:rPr lang="pt-BR" b="1" dirty="0" err="1"/>
              <a:t>left_join</a:t>
            </a:r>
            <a:r>
              <a:rPr lang="pt-BR" dirty="0"/>
              <a:t>() → função do </a:t>
            </a:r>
            <a:r>
              <a:rPr lang="pt-BR" dirty="0" err="1"/>
              <a:t>dplyr</a:t>
            </a:r>
            <a:r>
              <a:rPr lang="pt-BR" dirty="0"/>
              <a:t> (</a:t>
            </a:r>
            <a:r>
              <a:rPr lang="pt-BR" dirty="0" err="1"/>
              <a:t>tidyverse</a:t>
            </a:r>
            <a:r>
              <a:rPr lang="pt-BR" dirty="0"/>
              <a:t>)</a:t>
            </a:r>
            <a:br>
              <a:rPr lang="pt-BR" dirty="0"/>
            </a:br>
            <a:r>
              <a:rPr lang="pt-BR" dirty="0"/>
              <a:t>também pode ser </a:t>
            </a:r>
            <a:r>
              <a:rPr lang="pt-BR" b="1" dirty="0" err="1"/>
              <a:t>right</a:t>
            </a:r>
            <a:r>
              <a:rPr lang="pt-BR" dirty="0" err="1"/>
              <a:t>_join</a:t>
            </a:r>
            <a:r>
              <a:rPr lang="pt-BR" dirty="0"/>
              <a:t>, </a:t>
            </a:r>
            <a:r>
              <a:rPr lang="pt-BR" b="1" dirty="0" err="1"/>
              <a:t>full</a:t>
            </a:r>
            <a:r>
              <a:rPr lang="pt-BR" dirty="0" err="1"/>
              <a:t>_join</a:t>
            </a:r>
            <a:r>
              <a:rPr lang="pt-BR" dirty="0"/>
              <a:t> ou </a:t>
            </a:r>
            <a:r>
              <a:rPr lang="pt-BR" b="1" dirty="0" err="1"/>
              <a:t>inner</a:t>
            </a:r>
            <a:r>
              <a:rPr lang="pt-BR" dirty="0" err="1"/>
              <a:t>_join</a:t>
            </a:r>
            <a:endParaRPr lang="pt-BR" dirty="0"/>
          </a:p>
          <a:p>
            <a:endParaRPr lang="pt-BR" dirty="0"/>
          </a:p>
          <a:p>
            <a:r>
              <a:rPr lang="pt-BR" dirty="0"/>
              <a:t>As funções de </a:t>
            </a:r>
            <a:r>
              <a:rPr lang="pt-BR" dirty="0" err="1"/>
              <a:t>join</a:t>
            </a:r>
            <a:r>
              <a:rPr lang="pt-BR" dirty="0"/>
              <a:t> combinam dois data frames a partir de </a:t>
            </a:r>
            <a:r>
              <a:rPr lang="pt-BR" b="1" dirty="0"/>
              <a:t>uma variável em comum</a:t>
            </a:r>
            <a:r>
              <a:rPr lang="pt-BR" dirty="0"/>
              <a:t>, chamada de </a:t>
            </a:r>
            <a:r>
              <a:rPr lang="pt-BR" b="1" dirty="0"/>
              <a:t>chave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dirty="0"/>
              <a:t>Argumentos importantes no merge:</a:t>
            </a:r>
          </a:p>
          <a:p>
            <a:r>
              <a:rPr lang="pt-BR" b="1" dirty="0" err="1"/>
              <a:t>all.x</a:t>
            </a:r>
            <a:r>
              <a:rPr lang="pt-BR" b="1" dirty="0"/>
              <a:t> </a:t>
            </a:r>
            <a:r>
              <a:rPr lang="pt-BR" dirty="0"/>
              <a:t>= TRUE → mantém todas as linhas da </a:t>
            </a:r>
            <a:r>
              <a:rPr lang="pt-BR" b="1" dirty="0"/>
              <a:t>base1</a:t>
            </a:r>
            <a:endParaRPr lang="pt-BR" dirty="0"/>
          </a:p>
          <a:p>
            <a:r>
              <a:rPr lang="pt-BR" b="1" dirty="0" err="1"/>
              <a:t>all.y</a:t>
            </a:r>
            <a:r>
              <a:rPr lang="pt-BR" b="1" dirty="0"/>
              <a:t> </a:t>
            </a:r>
            <a:r>
              <a:rPr lang="pt-BR" dirty="0"/>
              <a:t>= TRUE → mantém todas as linhas da </a:t>
            </a:r>
            <a:r>
              <a:rPr lang="pt-BR" b="1" dirty="0"/>
              <a:t>base2</a:t>
            </a:r>
            <a:endParaRPr lang="pt-BR" dirty="0"/>
          </a:p>
          <a:p>
            <a:r>
              <a:rPr lang="pt-BR" b="1" dirty="0" err="1"/>
              <a:t>all</a:t>
            </a:r>
            <a:r>
              <a:rPr lang="pt-BR" dirty="0"/>
              <a:t> = TRUE → mantém todas as linhas de ambas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1AC5B7-678A-B013-A8CE-08B3A1BB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8ED93DA-B5F7-09CD-B3F5-0E22F71B7BD9}"/>
              </a:ext>
            </a:extLst>
          </p:cNvPr>
          <p:cNvSpPr txBox="1">
            <a:spLocks/>
          </p:cNvSpPr>
          <p:nvPr/>
        </p:nvSpPr>
        <p:spPr>
          <a:xfrm>
            <a:off x="0" y="1791478"/>
            <a:ext cx="3433482" cy="4077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i="1" dirty="0" err="1">
                <a:solidFill>
                  <a:schemeClr val="accent1">
                    <a:lumMod val="50000"/>
                  </a:schemeClr>
                </a:solidFill>
              </a:rPr>
              <a:t>join</a:t>
            </a:r>
            <a:endParaRPr lang="pt-BR" i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endParaRPr lang="pt-BR" i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pt-BR" i="1" dirty="0">
                <a:solidFill>
                  <a:schemeClr val="accent1">
                    <a:lumMod val="50000"/>
                  </a:schemeClr>
                </a:solidFill>
              </a:rPr>
              <a:t>merge</a:t>
            </a:r>
          </a:p>
          <a:p>
            <a:pPr algn="ctr"/>
            <a:endParaRPr lang="pt-BR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846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3E71AB0-8D0A-6C7F-297C-4816F08EF283}"/>
              </a:ext>
            </a:extLst>
          </p:cNvPr>
          <p:cNvSpPr/>
          <p:nvPr/>
        </p:nvSpPr>
        <p:spPr>
          <a:xfrm>
            <a:off x="950259" y="2214283"/>
            <a:ext cx="10488706" cy="2241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dirty="0"/>
              <a:t>Condicionais, Iterações e loops </a:t>
            </a:r>
            <a:endParaRPr lang="pt-BR" sz="4800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B0C52B-21FA-04C9-0F20-07DB48C7B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75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303872-DC0D-7EB6-0FF1-62EE731C7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err="1"/>
              <a:t>if</a:t>
            </a:r>
            <a:r>
              <a:rPr lang="pt-BR" dirty="0"/>
              <a:t> / </a:t>
            </a:r>
            <a:r>
              <a:rPr lang="pt-BR" dirty="0" err="1"/>
              <a:t>else</a:t>
            </a:r>
            <a:br>
              <a:rPr lang="pt-BR" dirty="0"/>
            </a:br>
            <a:br>
              <a:rPr lang="pt-BR" dirty="0"/>
            </a:br>
            <a:r>
              <a:rPr lang="pt-BR" sz="3300" dirty="0">
                <a:solidFill>
                  <a:schemeClr val="accent1">
                    <a:lumMod val="50000"/>
                  </a:schemeClr>
                </a:solidFill>
              </a:rPr>
              <a:t>Condicionais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4E7C396-98B3-FB7A-5EB7-996C09977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C9A997-19EE-BA22-4C5B-E9351A1BC45D}"/>
              </a:ext>
            </a:extLst>
          </p:cNvPr>
          <p:cNvSpPr txBox="1"/>
          <p:nvPr/>
        </p:nvSpPr>
        <p:spPr>
          <a:xfrm>
            <a:off x="3693460" y="977153"/>
            <a:ext cx="76213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Os </a:t>
            </a:r>
            <a:r>
              <a:rPr lang="pt-BR" b="1" dirty="0"/>
              <a:t>condicionais</a:t>
            </a:r>
            <a:r>
              <a:rPr lang="pt-BR" dirty="0"/>
              <a:t> </a:t>
            </a:r>
            <a:r>
              <a:rPr lang="pt-BR" b="1" dirty="0" err="1"/>
              <a:t>if</a:t>
            </a:r>
            <a:r>
              <a:rPr lang="pt-BR" b="1" dirty="0"/>
              <a:t> </a:t>
            </a:r>
            <a:r>
              <a:rPr lang="pt-BR" dirty="0"/>
              <a:t>e </a:t>
            </a:r>
            <a:r>
              <a:rPr lang="pt-BR" b="1" dirty="0" err="1"/>
              <a:t>else</a:t>
            </a:r>
            <a:r>
              <a:rPr lang="pt-BR" dirty="0"/>
              <a:t> são funções usadas para fazer operações condicionais. Podemos condicionar a ação do código/algoritmo a verificação de determinado teste.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24D6D23-78D2-7F83-D422-2269EFAE89DD}"/>
              </a:ext>
            </a:extLst>
          </p:cNvPr>
          <p:cNvSpPr txBox="1"/>
          <p:nvPr/>
        </p:nvSpPr>
        <p:spPr>
          <a:xfrm>
            <a:off x="3756213" y="2231375"/>
            <a:ext cx="61004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t-BR" sz="1800" dirty="0" err="1"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if</a:t>
            </a:r>
            <a:r>
              <a:rPr lang="pt-BR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 (</a:t>
            </a:r>
            <a:r>
              <a:rPr lang="pt-BR" sz="1800" i="1" dirty="0">
                <a:effectLst/>
                <a:latin typeface="Times New Roman" panose="02020603050405020304" pitchFamily="18" charset="0"/>
              </a:rPr>
              <a:t> teste verdadeiro </a:t>
            </a:r>
            <a:r>
              <a:rPr lang="pt-BR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) { </a:t>
            </a:r>
            <a:endParaRPr lang="pt-BR" sz="1800" dirty="0">
              <a:effectLst/>
              <a:latin typeface="Times New Roman" panose="02020603050405020304" pitchFamily="18" charset="0"/>
            </a:endParaRPr>
          </a:p>
          <a:p>
            <a:pPr marL="1714500" marR="0">
              <a:spcBef>
                <a:spcPts val="0"/>
              </a:spcBef>
              <a:spcAft>
                <a:spcPts val="0"/>
              </a:spcAft>
            </a:pPr>
            <a:r>
              <a:rPr lang="pt-BR" sz="1800" i="1" dirty="0" err="1">
                <a:effectLst/>
                <a:latin typeface="Times New Roman" panose="02020603050405020304" pitchFamily="18" charset="0"/>
              </a:rPr>
              <a:t>alguma_operação_com_o_objeto</a:t>
            </a:r>
            <a:endParaRPr lang="pt-BR" sz="1800" i="1" dirty="0">
              <a:effectLst/>
              <a:latin typeface="Times New Roman" panose="02020603050405020304" pitchFamily="18" charset="0"/>
            </a:endParaRPr>
          </a:p>
          <a:p>
            <a:pPr marL="1714500" marR="0">
              <a:spcBef>
                <a:spcPts val="0"/>
              </a:spcBef>
              <a:spcAft>
                <a:spcPts val="0"/>
              </a:spcAft>
            </a:pPr>
            <a:r>
              <a:rPr lang="pt-BR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}</a:t>
            </a:r>
            <a:r>
              <a:rPr lang="pt-BR" sz="1800" dirty="0">
                <a:effectLst/>
                <a:latin typeface="Times New Roman" panose="02020603050405020304" pitchFamily="18" charset="0"/>
              </a:rPr>
              <a:t>  </a:t>
            </a:r>
            <a:r>
              <a:rPr lang="pt-BR" sz="1800" dirty="0" err="1"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else</a:t>
            </a:r>
            <a:r>
              <a:rPr lang="pt-BR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 {</a:t>
            </a:r>
          </a:p>
          <a:p>
            <a:pPr marL="1714500" marR="0">
              <a:spcBef>
                <a:spcPts val="0"/>
              </a:spcBef>
              <a:spcAft>
                <a:spcPts val="0"/>
              </a:spcAft>
            </a:pPr>
            <a:r>
              <a:rPr lang="pt-BR" i="1" dirty="0">
                <a:latin typeface="Times New Roman" panose="02020603050405020304" pitchFamily="18" charset="0"/>
              </a:rPr>
              <a:t>outra operação com o objeto</a:t>
            </a:r>
          </a:p>
          <a:p>
            <a:pPr marL="1714500" marR="0">
              <a:spcBef>
                <a:spcPts val="0"/>
              </a:spcBef>
              <a:spcAft>
                <a:spcPts val="0"/>
              </a:spcAft>
            </a:pPr>
            <a:r>
              <a:rPr lang="pt-BR" dirty="0">
                <a:highlight>
                  <a:srgbClr val="FFFF00"/>
                </a:highlight>
                <a:latin typeface="Times New Roman" panose="02020603050405020304" pitchFamily="18" charset="0"/>
              </a:rPr>
              <a:t>}</a:t>
            </a:r>
          </a:p>
          <a:p>
            <a:pPr marL="1714500" marR="0">
              <a:spcBef>
                <a:spcPts val="0"/>
              </a:spcBef>
              <a:spcAft>
                <a:spcPts val="0"/>
              </a:spcAft>
            </a:pPr>
            <a:endParaRPr lang="pt-BR" sz="1800" dirty="0">
              <a:effectLst/>
              <a:highlight>
                <a:srgbClr val="FFFF00"/>
              </a:highlight>
              <a:latin typeface="Times New Roman" panose="02020603050405020304" pitchFamily="18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79D4E5-DC55-37AF-7F0D-9CE1F2393CE1}"/>
              </a:ext>
            </a:extLst>
          </p:cNvPr>
          <p:cNvSpPr txBox="1"/>
          <p:nvPr/>
        </p:nvSpPr>
        <p:spPr>
          <a:xfrm>
            <a:off x="3778240" y="4034188"/>
            <a:ext cx="76213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Alternativamente, podemos usar direto a função </a:t>
            </a:r>
            <a:r>
              <a:rPr lang="pt-BR" b="1" dirty="0" err="1"/>
              <a:t>ifelse</a:t>
            </a:r>
            <a:r>
              <a:rPr lang="pt-BR" dirty="0"/>
              <a:t>( ).</a:t>
            </a:r>
          </a:p>
          <a:p>
            <a:pPr algn="just"/>
            <a:endParaRPr lang="pt-BR" dirty="0"/>
          </a:p>
          <a:p>
            <a:pPr algn="just"/>
            <a:r>
              <a:rPr lang="pt-BR" dirty="0" err="1">
                <a:highlight>
                  <a:srgbClr val="FFFF00"/>
                </a:highlight>
              </a:rPr>
              <a:t>ifelse</a:t>
            </a:r>
            <a:r>
              <a:rPr lang="pt-BR" dirty="0">
                <a:highlight>
                  <a:srgbClr val="FFFF00"/>
                </a:highlight>
              </a:rPr>
              <a:t>(</a:t>
            </a:r>
            <a:r>
              <a:rPr lang="pt-BR" dirty="0"/>
              <a:t> </a:t>
            </a:r>
            <a:r>
              <a:rPr lang="pt-BR" i="1" dirty="0"/>
              <a:t>teste verdadeiro </a:t>
            </a:r>
            <a:r>
              <a:rPr lang="pt-BR" dirty="0"/>
              <a:t>, </a:t>
            </a:r>
            <a:r>
              <a:rPr lang="pt-BR" dirty="0" err="1"/>
              <a:t>yes</a:t>
            </a:r>
            <a:r>
              <a:rPr lang="pt-BR" dirty="0"/>
              <a:t> = </a:t>
            </a:r>
            <a:r>
              <a:rPr lang="pt-BR" i="1" dirty="0"/>
              <a:t>faça isso</a:t>
            </a:r>
            <a:r>
              <a:rPr lang="pt-BR" dirty="0"/>
              <a:t>, no = </a:t>
            </a:r>
            <a:r>
              <a:rPr lang="pt-BR" i="1" dirty="0"/>
              <a:t>faça aquilo</a:t>
            </a:r>
            <a:r>
              <a:rPr lang="pt-BR" i="1" dirty="0">
                <a:highlight>
                  <a:srgbClr val="FFFF00"/>
                </a:highlight>
              </a:rPr>
              <a:t> </a:t>
            </a:r>
            <a:r>
              <a:rPr lang="pt-BR" dirty="0">
                <a:highlight>
                  <a:srgbClr val="FFFF00"/>
                </a:highligh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67217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303872-DC0D-7EB6-0FF1-62EE731C7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Loops</a:t>
            </a:r>
            <a:br>
              <a:rPr lang="pt-BR" dirty="0"/>
            </a:br>
            <a:br>
              <a:rPr lang="pt-BR" dirty="0"/>
            </a:br>
            <a:r>
              <a:rPr lang="pt-BR" sz="3300" dirty="0">
                <a:solidFill>
                  <a:schemeClr val="accent1">
                    <a:lumMod val="50000"/>
                  </a:schemeClr>
                </a:solidFill>
              </a:rPr>
              <a:t>Iterações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4E7C396-98B3-FB7A-5EB7-996C09977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C9A997-19EE-BA22-4C5B-E9351A1BC45D}"/>
              </a:ext>
            </a:extLst>
          </p:cNvPr>
          <p:cNvSpPr txBox="1"/>
          <p:nvPr/>
        </p:nvSpPr>
        <p:spPr>
          <a:xfrm>
            <a:off x="3693460" y="977153"/>
            <a:ext cx="76213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Os </a:t>
            </a:r>
            <a:r>
              <a:rPr lang="pt-BR" b="1" dirty="0"/>
              <a:t>loops</a:t>
            </a:r>
            <a:r>
              <a:rPr lang="pt-BR" dirty="0"/>
              <a:t> ou </a:t>
            </a:r>
            <a:r>
              <a:rPr lang="pt-BR" b="1" dirty="0"/>
              <a:t>iterações</a:t>
            </a:r>
            <a:r>
              <a:rPr lang="pt-BR" dirty="0"/>
              <a:t> são funções usadas para mecanizar operações repetitivas. Podemos automatizar a parte repetitiva do código, de modo a compactar e tornar mais compreensível e eficiente.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705902F-DD8A-3041-8503-1B3C31E0C8A9}"/>
              </a:ext>
            </a:extLst>
          </p:cNvPr>
          <p:cNvSpPr txBox="1"/>
          <p:nvPr/>
        </p:nvSpPr>
        <p:spPr>
          <a:xfrm>
            <a:off x="3693460" y="2218329"/>
            <a:ext cx="76213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/>
              <a:t>A cada iteração/rodada/round podemos fazer diversas operações em sequência e repetir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24D6D23-78D2-7F83-D422-2269EFAE89DD}"/>
              </a:ext>
            </a:extLst>
          </p:cNvPr>
          <p:cNvSpPr txBox="1"/>
          <p:nvPr/>
        </p:nvSpPr>
        <p:spPr>
          <a:xfrm>
            <a:off x="3693460" y="3118881"/>
            <a:ext cx="61004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t-BR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for (</a:t>
            </a:r>
            <a:r>
              <a:rPr lang="pt-BR" sz="1800" i="1" dirty="0">
                <a:effectLst/>
                <a:latin typeface="Times New Roman" panose="02020603050405020304" pitchFamily="18" charset="0"/>
              </a:rPr>
              <a:t>contador</a:t>
            </a:r>
            <a:r>
              <a:rPr lang="pt-BR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pt-BR" sz="1800" b="1" dirty="0"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in</a:t>
            </a:r>
            <a:r>
              <a:rPr lang="pt-BR" sz="1800" dirty="0">
                <a:effectLst/>
                <a:latin typeface="Times New Roman" panose="02020603050405020304" pitchFamily="18" charset="0"/>
              </a:rPr>
              <a:t> </a:t>
            </a:r>
            <a:r>
              <a:rPr lang="pt-BR" sz="1800" i="1" dirty="0">
                <a:effectLst/>
                <a:latin typeface="Times New Roman" panose="02020603050405020304" pitchFamily="18" charset="0"/>
              </a:rPr>
              <a:t>conjunto</a:t>
            </a:r>
            <a:r>
              <a:rPr lang="pt-BR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) { </a:t>
            </a:r>
            <a:endParaRPr lang="pt-BR" sz="1800" dirty="0">
              <a:effectLst/>
              <a:latin typeface="Times New Roman" panose="02020603050405020304" pitchFamily="18" charset="0"/>
            </a:endParaRPr>
          </a:p>
          <a:p>
            <a:pPr marL="1714500" marR="0">
              <a:spcBef>
                <a:spcPts val="0"/>
              </a:spcBef>
              <a:spcAft>
                <a:spcPts val="0"/>
              </a:spcAft>
            </a:pPr>
            <a:r>
              <a:rPr lang="pt-BR" sz="1800" dirty="0" err="1">
                <a:effectLst/>
                <a:latin typeface="Times New Roman" panose="02020603050405020304" pitchFamily="18" charset="0"/>
              </a:rPr>
              <a:t>alguma_operação_com_o_objeto</a:t>
            </a:r>
            <a:endParaRPr lang="pt-BR" sz="1800" dirty="0">
              <a:effectLst/>
              <a:latin typeface="Times New Roman" panose="02020603050405020304" pitchFamily="18" charset="0"/>
            </a:endParaRPr>
          </a:p>
          <a:p>
            <a:pPr marL="1714500" marR="0">
              <a:spcBef>
                <a:spcPts val="0"/>
              </a:spcBef>
              <a:spcAft>
                <a:spcPts val="0"/>
              </a:spcAft>
            </a:pPr>
            <a:r>
              <a:rPr lang="pt-BR" sz="1800" dirty="0">
                <a:effectLst/>
                <a:highlight>
                  <a:srgbClr val="FFFF00"/>
                </a:highlight>
                <a:latin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960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3E71AB0-8D0A-6C7F-297C-4816F08EF283}"/>
              </a:ext>
            </a:extLst>
          </p:cNvPr>
          <p:cNvSpPr/>
          <p:nvPr/>
        </p:nvSpPr>
        <p:spPr>
          <a:xfrm>
            <a:off x="950259" y="2214283"/>
            <a:ext cx="10488706" cy="2241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dirty="0"/>
              <a:t>Mão na massa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B0C52B-21FA-04C9-0F20-07DB48C7B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1761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D416E1EF-542E-3396-52D9-E4FEE5057B7E}"/>
              </a:ext>
            </a:extLst>
          </p:cNvPr>
          <p:cNvSpPr txBox="1">
            <a:spLocks/>
          </p:cNvSpPr>
          <p:nvPr/>
        </p:nvSpPr>
        <p:spPr>
          <a:xfrm>
            <a:off x="0" y="2374928"/>
            <a:ext cx="3433482" cy="14440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Pacote</a:t>
            </a:r>
          </a:p>
          <a:p>
            <a:pPr algn="ctr"/>
            <a:endParaRPr lang="pt-BR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pt-BR" dirty="0" err="1">
                <a:solidFill>
                  <a:schemeClr val="bg1"/>
                </a:solidFill>
              </a:rPr>
              <a:t>PNADcIBGE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84739714-3A86-9057-2A0D-CF4AA9AA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ADB528C-AD91-32CD-D1E8-FD185780D03B}"/>
              </a:ext>
            </a:extLst>
          </p:cNvPr>
          <p:cNvSpPr txBox="1"/>
          <p:nvPr/>
        </p:nvSpPr>
        <p:spPr>
          <a:xfrm>
            <a:off x="3643220" y="885271"/>
            <a:ext cx="721229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 R temos o pacote </a:t>
            </a:r>
            <a:r>
              <a:rPr lang="pt-BR" b="1" dirty="0" err="1"/>
              <a:t>PNADcIBGE</a:t>
            </a:r>
            <a:r>
              <a:rPr lang="pt-BR" dirty="0"/>
              <a:t> para importação dos dados da Pnad-c</a:t>
            </a:r>
          </a:p>
          <a:p>
            <a:endParaRPr lang="pt-BR" dirty="0"/>
          </a:p>
          <a:p>
            <a:r>
              <a:rPr lang="pt-BR" dirty="0"/>
              <a:t>Para mais informações, recomendo a consulta do </a:t>
            </a:r>
            <a:r>
              <a:rPr lang="pt-BR" dirty="0">
                <a:hlinkClick r:id="rId2"/>
              </a:rPr>
              <a:t>site do Gabriel Assunção</a:t>
            </a:r>
            <a:endParaRPr lang="pt-BR" dirty="0"/>
          </a:p>
          <a:p>
            <a:r>
              <a:rPr lang="pt-BR" dirty="0">
                <a:hlinkClick r:id="rId2"/>
              </a:rPr>
              <a:t>Site: </a:t>
            </a:r>
            <a:r>
              <a:rPr lang="pt-BR" dirty="0" err="1">
                <a:hlinkClick r:id="rId2"/>
              </a:rPr>
              <a:t>RPubs</a:t>
            </a:r>
            <a:r>
              <a:rPr lang="pt-BR" dirty="0">
                <a:hlinkClick r:id="rId2"/>
              </a:rPr>
              <a:t> - Análise de microdados da PNAD Contínua</a:t>
            </a:r>
            <a:endParaRPr lang="pt-BR" dirty="0"/>
          </a:p>
          <a:p>
            <a:endParaRPr lang="pt-BR" dirty="0"/>
          </a:p>
          <a:p>
            <a:r>
              <a:rPr lang="pt-BR" dirty="0"/>
              <a:t>Para fazer o download de dados da Pnad-c: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9C94A9C-665E-791D-7CE4-12B9E93EA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7247" y="2755847"/>
            <a:ext cx="6750424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dadosPNADc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&lt;-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get_pnadc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year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009999"/>
                </a:solidFill>
                <a:effectLst/>
                <a:latin typeface="Courier New" panose="02070309020205020404" pitchFamily="49" charset="0"/>
              </a:rPr>
              <a:t>2023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quarter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pt-BR" altLang="pt-BR" dirty="0">
                <a:solidFill>
                  <a:srgbClr val="009999"/>
                </a:solidFill>
                <a:latin typeface="Courier New" panose="02070309020205020404" pitchFamily="49" charset="0"/>
              </a:rPr>
              <a:t>1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pt-BR" altLang="pt-BR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130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D416E1EF-542E-3396-52D9-E4FEE5057B7E}"/>
              </a:ext>
            </a:extLst>
          </p:cNvPr>
          <p:cNvSpPr txBox="1">
            <a:spLocks/>
          </p:cNvSpPr>
          <p:nvPr/>
        </p:nvSpPr>
        <p:spPr>
          <a:xfrm>
            <a:off x="0" y="2374928"/>
            <a:ext cx="3433482" cy="14440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IBGE</a:t>
            </a:r>
          </a:p>
          <a:p>
            <a:pPr algn="ctr"/>
            <a:endParaRPr lang="pt-BR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pt-BR" dirty="0">
                <a:solidFill>
                  <a:schemeClr val="bg1"/>
                </a:solidFill>
              </a:rPr>
              <a:t>CENSO 2010</a:t>
            </a:r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84739714-3A86-9057-2A0D-CF4AA9AAB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ADB528C-AD91-32CD-D1E8-FD185780D03B}"/>
              </a:ext>
            </a:extLst>
          </p:cNvPr>
          <p:cNvSpPr txBox="1"/>
          <p:nvPr/>
        </p:nvSpPr>
        <p:spPr>
          <a:xfrm>
            <a:off x="3643220" y="885271"/>
            <a:ext cx="695203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 R ainda não temos um pacote para o Censo.</a:t>
            </a:r>
          </a:p>
          <a:p>
            <a:endParaRPr lang="pt-BR" dirty="0"/>
          </a:p>
          <a:p>
            <a:r>
              <a:rPr lang="pt-BR" dirty="0"/>
              <a:t>Portanto, temos que fazer o download dos dados direto no </a:t>
            </a:r>
            <a:r>
              <a:rPr lang="pt-BR" b="1" dirty="0"/>
              <a:t>site do IBGE</a:t>
            </a:r>
          </a:p>
          <a:p>
            <a:endParaRPr lang="pt-BR" dirty="0"/>
          </a:p>
          <a:p>
            <a:r>
              <a:rPr lang="pt-BR" dirty="0"/>
              <a:t>OU no site do </a:t>
            </a:r>
            <a:r>
              <a:rPr lang="pt-BR" b="1" dirty="0"/>
              <a:t>Centro de Estudos da Metrópole (CEM)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24823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3E71AB0-8D0A-6C7F-297C-4816F08EF283}"/>
              </a:ext>
            </a:extLst>
          </p:cNvPr>
          <p:cNvSpPr/>
          <p:nvPr/>
        </p:nvSpPr>
        <p:spPr>
          <a:xfrm>
            <a:off x="950259" y="2214283"/>
            <a:ext cx="10488706" cy="22411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dirty="0"/>
              <a:t>O caminho da </a:t>
            </a:r>
            <a:r>
              <a:rPr lang="pt-BR" sz="4800" b="1" dirty="0"/>
              <a:t>CAUSA</a:t>
            </a:r>
            <a:r>
              <a:rPr lang="pt-BR" sz="4800" dirty="0"/>
              <a:t> para o </a:t>
            </a:r>
            <a:r>
              <a:rPr lang="pt-BR" sz="4800" b="1" dirty="0"/>
              <a:t>EFEITO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B0C52B-21FA-04C9-0F20-07DB48C7B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32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303872-DC0D-7EB6-0FF1-62EE731C7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Factual</a:t>
            </a:r>
            <a:br>
              <a:rPr lang="pt-BR" dirty="0"/>
            </a:br>
            <a:br>
              <a:rPr lang="pt-BR" dirty="0"/>
            </a:br>
            <a:r>
              <a:rPr lang="pt-BR" sz="3300" dirty="0">
                <a:solidFill>
                  <a:schemeClr val="accent1">
                    <a:lumMod val="50000"/>
                  </a:schemeClr>
                </a:solidFill>
              </a:rPr>
              <a:t>Contrafactual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4E7C396-98B3-FB7A-5EB7-996C09977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BA4FA11-7D7A-48F3-C96F-0A7DACCA1999}"/>
              </a:ext>
            </a:extLst>
          </p:cNvPr>
          <p:cNvSpPr txBox="1"/>
          <p:nvPr/>
        </p:nvSpPr>
        <p:spPr>
          <a:xfrm>
            <a:off x="4799268" y="797859"/>
            <a:ext cx="58348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FACTUAL</a:t>
            </a:r>
            <a:r>
              <a:rPr lang="pt-BR" dirty="0"/>
              <a:t> 		versus 		</a:t>
            </a:r>
            <a:r>
              <a:rPr lang="pt-BR" sz="2400" dirty="0"/>
              <a:t>CONTRAFACTUAL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7B45CF7-7E9C-D91C-545C-029AF1A8C173}"/>
              </a:ext>
            </a:extLst>
          </p:cNvPr>
          <p:cNvSpPr txBox="1"/>
          <p:nvPr/>
        </p:nvSpPr>
        <p:spPr>
          <a:xfrm>
            <a:off x="4425384" y="1425389"/>
            <a:ext cx="6208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realidade observada				realidade não observada</a:t>
            </a:r>
          </a:p>
        </p:txBody>
      </p:sp>
      <p:pic>
        <p:nvPicPr>
          <p:cNvPr id="1026" name="Picture 2" descr="My Selected Svg Png Icon Free Download (#407482) - OnlineWebFonts.COM">
            <a:extLst>
              <a:ext uri="{FF2B5EF4-FFF2-40B4-BE49-F238E27FC236}">
                <a16:creationId xmlns:a16="http://schemas.microsoft.com/office/drawing/2014/main" id="{DA41E948-FB8D-A0A6-2F41-F9F4C06A5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5384" y="2877573"/>
            <a:ext cx="2185707" cy="2185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7A5829AD-C73E-B6FD-8855-5C0EC9C25FAF}"/>
              </a:ext>
            </a:extLst>
          </p:cNvPr>
          <p:cNvCxnSpPr>
            <a:cxnSpLocks/>
          </p:cNvCxnSpPr>
          <p:nvPr/>
        </p:nvCxnSpPr>
        <p:spPr>
          <a:xfrm flipV="1">
            <a:off x="6611091" y="2967317"/>
            <a:ext cx="1105610" cy="10031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406888E1-917B-4F31-458D-56742FE4A533}"/>
              </a:ext>
            </a:extLst>
          </p:cNvPr>
          <p:cNvCxnSpPr>
            <a:cxnSpLocks/>
            <a:stCxn id="1026" idx="3"/>
          </p:cNvCxnSpPr>
          <p:nvPr/>
        </p:nvCxnSpPr>
        <p:spPr>
          <a:xfrm>
            <a:off x="6611091" y="3970427"/>
            <a:ext cx="1105610" cy="7719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39F03BC-FE95-B97D-6CF9-E33CBEC2E69D}"/>
              </a:ext>
            </a:extLst>
          </p:cNvPr>
          <p:cNvSpPr txBox="1"/>
          <p:nvPr/>
        </p:nvSpPr>
        <p:spPr>
          <a:xfrm>
            <a:off x="7836074" y="2688846"/>
            <a:ext cx="216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Universidade pública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8184C02-2E20-CC3B-A776-056CBAEFDCD7}"/>
              </a:ext>
            </a:extLst>
          </p:cNvPr>
          <p:cNvSpPr txBox="1"/>
          <p:nvPr/>
        </p:nvSpPr>
        <p:spPr>
          <a:xfrm>
            <a:off x="7836074" y="4557663"/>
            <a:ext cx="2193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Universidade privada</a:t>
            </a:r>
          </a:p>
        </p:txBody>
      </p:sp>
    </p:spTree>
    <p:extLst>
      <p:ext uri="{BB962C8B-B14F-4D97-AF65-F5344CB8AC3E}">
        <p14:creationId xmlns:p14="http://schemas.microsoft.com/office/powerpoint/2010/main" val="17190681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345EC5-8608-3D0D-CE79-93D1AE7D5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Causa e Efeito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3D2754DF-0CD8-A3C6-A606-E2CB495FB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1E78063-FD6E-89E5-9208-AF6E1EA42836}"/>
              </a:ext>
            </a:extLst>
          </p:cNvPr>
          <p:cNvSpPr txBox="1"/>
          <p:nvPr/>
        </p:nvSpPr>
        <p:spPr>
          <a:xfrm>
            <a:off x="3643220" y="885271"/>
            <a:ext cx="8295861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Ideia</a:t>
            </a:r>
            <a:r>
              <a:rPr lang="pt-BR" dirty="0"/>
              <a:t>: queremos entender o que </a:t>
            </a:r>
            <a:r>
              <a:rPr lang="pt-BR" b="1" dirty="0"/>
              <a:t>causa</a:t>
            </a:r>
            <a:r>
              <a:rPr lang="pt-BR" dirty="0"/>
              <a:t> determinado </a:t>
            </a:r>
            <a:r>
              <a:rPr lang="pt-BR" b="1" dirty="0"/>
              <a:t>efeito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ou a relação entre </a:t>
            </a:r>
            <a:r>
              <a:rPr lang="pt-BR" b="1" dirty="0"/>
              <a:t>causa</a:t>
            </a:r>
            <a:r>
              <a:rPr lang="pt-BR" dirty="0"/>
              <a:t> e </a:t>
            </a:r>
            <a:r>
              <a:rPr lang="pt-BR" b="1" dirty="0"/>
              <a:t>efeito</a:t>
            </a:r>
          </a:p>
          <a:p>
            <a:endParaRPr lang="pt-BR" b="1" dirty="0"/>
          </a:p>
          <a:p>
            <a:r>
              <a:rPr lang="pt-BR" dirty="0"/>
              <a:t>Nas </a:t>
            </a:r>
            <a:r>
              <a:rPr lang="pt-BR" b="1" dirty="0"/>
              <a:t>Ciências Sociais</a:t>
            </a:r>
            <a:r>
              <a:rPr lang="pt-BR" dirty="0"/>
              <a:t>, abordamos a realidade como multidimensional,</a:t>
            </a:r>
          </a:p>
          <a:p>
            <a:r>
              <a:rPr lang="pt-BR" dirty="0"/>
              <a:t>onde os efeitos possuem múltiplas causas (multicausal).</a:t>
            </a:r>
          </a:p>
          <a:p>
            <a:endParaRPr lang="pt-BR" dirty="0"/>
          </a:p>
          <a:p>
            <a:r>
              <a:rPr lang="pt-BR" dirty="0"/>
              <a:t>Exemplo: o que causa desigualdade de renda são múltiplos fatores.</a:t>
            </a:r>
          </a:p>
          <a:p>
            <a:endParaRPr lang="pt-BR" dirty="0"/>
          </a:p>
          <a:p>
            <a:r>
              <a:rPr lang="pt-BR" dirty="0"/>
              <a:t>Portanto, é mais correto dizer que buscamos entender o </a:t>
            </a:r>
            <a:r>
              <a:rPr lang="pt-BR" b="1" dirty="0"/>
              <a:t>efeito causal </a:t>
            </a:r>
            <a:r>
              <a:rPr lang="pt-BR" dirty="0"/>
              <a:t>desses fatores.</a:t>
            </a:r>
          </a:p>
          <a:p>
            <a:endParaRPr lang="pt-BR" dirty="0"/>
          </a:p>
          <a:p>
            <a:r>
              <a:rPr lang="pt-BR" dirty="0"/>
              <a:t>Porém, na maior parte das vezes estamos observando </a:t>
            </a:r>
            <a:r>
              <a:rPr lang="pt-BR" b="1" dirty="0"/>
              <a:t>correlações e associações</a:t>
            </a:r>
            <a:r>
              <a:rPr lang="pt-BR" dirty="0"/>
              <a:t>, </a:t>
            </a:r>
          </a:p>
          <a:p>
            <a:r>
              <a:rPr lang="pt-BR" dirty="0"/>
              <a:t>justamente porque não temos acesso ao cenário </a:t>
            </a:r>
            <a:r>
              <a:rPr lang="pt-BR" b="1" dirty="0"/>
              <a:t>contrafactual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Outras ciências naturais e “exatas” contornam esse problema controlando fatores por</a:t>
            </a:r>
          </a:p>
          <a:p>
            <a:r>
              <a:rPr lang="pt-BR" dirty="0"/>
              <a:t>experimentos em laboratório. Porém, nossa ciência é mais </a:t>
            </a:r>
            <a:r>
              <a:rPr lang="pt-BR" b="1" dirty="0"/>
              <a:t>observacional</a:t>
            </a:r>
            <a:r>
              <a:rPr lang="pt-BR" dirty="0"/>
              <a:t> do que</a:t>
            </a:r>
          </a:p>
          <a:p>
            <a:r>
              <a:rPr lang="pt-BR" dirty="0"/>
              <a:t>experimental. Em geral, observamos as relações entre pessoas e estudamos</a:t>
            </a:r>
          </a:p>
          <a:p>
            <a:r>
              <a:rPr lang="pt-BR" dirty="0"/>
              <a:t>padrões que nos interessam.</a:t>
            </a:r>
          </a:p>
        </p:txBody>
      </p:sp>
    </p:spTree>
    <p:extLst>
      <p:ext uri="{BB962C8B-B14F-4D97-AF65-F5344CB8AC3E}">
        <p14:creationId xmlns:p14="http://schemas.microsoft.com/office/powerpoint/2010/main" val="1603908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CC353-0961-A446-1A08-A238CF901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18" y="1123837"/>
            <a:ext cx="3307975" cy="4601183"/>
          </a:xfrm>
        </p:spPr>
        <p:txBody>
          <a:bodyPr>
            <a:normAutofit/>
          </a:bodyPr>
          <a:lstStyle/>
          <a:p>
            <a:r>
              <a:rPr lang="pt-BR" sz="3200" i="1" dirty="0"/>
              <a:t>CETERIS PARIBUS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126378B-69BB-0E52-4AE3-B10C26773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840AABD-7A07-A7B9-5B40-F203F0820072}"/>
              </a:ext>
            </a:extLst>
          </p:cNvPr>
          <p:cNvSpPr txBox="1"/>
          <p:nvPr/>
        </p:nvSpPr>
        <p:spPr>
          <a:xfrm>
            <a:off x="3643220" y="885271"/>
            <a:ext cx="827944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Para uma análise mais próxima da relação </a:t>
            </a:r>
            <a:r>
              <a:rPr lang="pt-BR" b="1" dirty="0"/>
              <a:t>causa-efeito</a:t>
            </a:r>
            <a:r>
              <a:rPr lang="pt-BR" dirty="0"/>
              <a:t>, temos que controlar</a:t>
            </a:r>
          </a:p>
          <a:p>
            <a:r>
              <a:rPr lang="pt-BR" dirty="0"/>
              <a:t>os fatores de </a:t>
            </a:r>
            <a:r>
              <a:rPr lang="pt-BR" b="1" dirty="0"/>
              <a:t>confusão</a:t>
            </a:r>
            <a:r>
              <a:rPr lang="pt-BR" dirty="0"/>
              <a:t> ou </a:t>
            </a:r>
            <a:r>
              <a:rPr lang="pt-BR" b="1" dirty="0"/>
              <a:t>enviesamento</a:t>
            </a:r>
            <a:r>
              <a:rPr lang="pt-BR" dirty="0"/>
              <a:t>, garantindo a condição </a:t>
            </a:r>
            <a:r>
              <a:rPr lang="pt-BR" b="1" dirty="0"/>
              <a:t>CETERIS PARIBUS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Garantir a condição CETERIS PARIBUS e garantir que a amostra não seja enviesada</a:t>
            </a:r>
          </a:p>
          <a:p>
            <a:r>
              <a:rPr lang="pt-BR" dirty="0"/>
              <a:t>são as primeiras ferramentas para investigar a relação de causa e efeito.</a:t>
            </a:r>
          </a:p>
          <a:p>
            <a:endParaRPr lang="pt-BR" dirty="0"/>
          </a:p>
          <a:p>
            <a:r>
              <a:rPr lang="pt-BR" dirty="0"/>
              <a:t>Por que estamos interessados nisso? </a:t>
            </a:r>
          </a:p>
          <a:p>
            <a:endParaRPr lang="pt-BR" dirty="0"/>
          </a:p>
          <a:p>
            <a:pPr marL="285750" indent="-285750">
              <a:buFontTx/>
              <a:buChar char="-"/>
            </a:pPr>
            <a:r>
              <a:rPr lang="pt-BR" dirty="0"/>
              <a:t>Pesquisa sobre fatores específicos (raça, gênero, classe etc.)</a:t>
            </a:r>
          </a:p>
          <a:p>
            <a:pPr marL="285750" indent="-285750">
              <a:buFontTx/>
              <a:buChar char="-"/>
            </a:pPr>
            <a:r>
              <a:rPr lang="pt-BR" dirty="0"/>
              <a:t>Análise de políticas públicas</a:t>
            </a:r>
          </a:p>
        </p:txBody>
      </p:sp>
    </p:spTree>
    <p:extLst>
      <p:ext uri="{BB962C8B-B14F-4D97-AF65-F5344CB8AC3E}">
        <p14:creationId xmlns:p14="http://schemas.microsoft.com/office/powerpoint/2010/main" val="34674946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B93A0-C37C-5724-D4CD-30970731F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Censo e PNAD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BA2E54C-6B7D-14AE-FFD7-A9CE09920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9EF7DAA-26CF-0536-3DB9-DAE0173031FB}"/>
              </a:ext>
            </a:extLst>
          </p:cNvPr>
          <p:cNvSpPr txBox="1"/>
          <p:nvPr/>
        </p:nvSpPr>
        <p:spPr>
          <a:xfrm>
            <a:off x="3454961" y="903201"/>
            <a:ext cx="832466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Não vamos trabalhar aqui sobre técnicas de análise de causalidade.</a:t>
            </a:r>
          </a:p>
          <a:p>
            <a:endParaRPr lang="pt-BR" dirty="0"/>
          </a:p>
          <a:p>
            <a:r>
              <a:rPr lang="pt-BR" dirty="0"/>
              <a:t>Dificilmente temos condições de observar causalidade. O que vemos, em geral,</a:t>
            </a:r>
          </a:p>
          <a:p>
            <a:r>
              <a:rPr lang="pt-BR" dirty="0"/>
              <a:t>são associações e correlações.</a:t>
            </a:r>
          </a:p>
          <a:p>
            <a:endParaRPr lang="pt-BR" dirty="0"/>
          </a:p>
          <a:p>
            <a:r>
              <a:rPr lang="pt-BR" dirty="0"/>
              <a:t>Por que, então, estamos falando de causa e efeito, realidade observada e não observada?</a:t>
            </a:r>
          </a:p>
          <a:p>
            <a:endParaRPr lang="pt-BR" dirty="0"/>
          </a:p>
          <a:p>
            <a:r>
              <a:rPr lang="pt-BR" dirty="0"/>
              <a:t>Como as Ciências Sociais são eminentemente observacionais, vamos lidar nessa aula</a:t>
            </a:r>
          </a:p>
          <a:p>
            <a:r>
              <a:rPr lang="pt-BR" dirty="0"/>
              <a:t>com as principais bases de dados para o acompanhamento da população.</a:t>
            </a:r>
          </a:p>
          <a:p>
            <a:endParaRPr lang="pt-BR" dirty="0"/>
          </a:p>
          <a:p>
            <a:r>
              <a:rPr lang="pt-BR" b="1" dirty="0"/>
              <a:t>Censo Demográfico</a:t>
            </a:r>
            <a:r>
              <a:rPr lang="pt-BR" dirty="0"/>
              <a:t>: principal pesquisa demográfica e domiciliar. Possui questionário simples de aplicação ao universo populacional, e questionário complexo aplicado a uma amostra complexa de 10% da população.</a:t>
            </a:r>
          </a:p>
          <a:p>
            <a:endParaRPr lang="pt-BR" dirty="0"/>
          </a:p>
          <a:p>
            <a:r>
              <a:rPr lang="pt-BR" b="1" dirty="0"/>
              <a:t>PNAD contínua </a:t>
            </a:r>
            <a:r>
              <a:rPr lang="pt-BR" dirty="0"/>
              <a:t>: Pesquisa Nacional de Amostra Domiciliar contínua, realizada anualmente e por trimestres.</a:t>
            </a:r>
          </a:p>
        </p:txBody>
      </p:sp>
    </p:spTree>
    <p:extLst>
      <p:ext uri="{BB962C8B-B14F-4D97-AF65-F5344CB8AC3E}">
        <p14:creationId xmlns:p14="http://schemas.microsoft.com/office/powerpoint/2010/main" val="2036867203"/>
      </p:ext>
    </p:extLst>
  </p:cSld>
  <p:clrMapOvr>
    <a:masterClrMapping/>
  </p:clrMapOvr>
</p:sld>
</file>

<file path=ppt/theme/theme1.xml><?xml version="1.0" encoding="utf-8"?>
<a:theme xmlns:a="http://schemas.openxmlformats.org/drawingml/2006/main" name="Quadro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TM03457475[[fn=Quadro]]</Template>
  <TotalTime>2261</TotalTime>
  <Words>1875</Words>
  <Application>Microsoft Office PowerPoint</Application>
  <PresentationFormat>Widescreen</PresentationFormat>
  <Paragraphs>314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Corbel</vt:lpstr>
      <vt:lpstr>Courier New</vt:lpstr>
      <vt:lpstr>Times New Roman</vt:lpstr>
      <vt:lpstr>Wingdings 2</vt:lpstr>
      <vt:lpstr>Quadro</vt:lpstr>
      <vt:lpstr>Apresentação do PowerPoint</vt:lpstr>
      <vt:lpstr>Apresentação do PowerPoint</vt:lpstr>
      <vt:lpstr>Apresentação do PowerPoint</vt:lpstr>
      <vt:lpstr>Apresentação do PowerPoint</vt:lpstr>
      <vt:lpstr>Como iniciar um script</vt:lpstr>
      <vt:lpstr>importação R Input Output</vt:lpstr>
      <vt:lpstr>visualização estrutura do dado</vt:lpstr>
      <vt:lpstr>R base Operações básicas</vt:lpstr>
      <vt:lpstr>tidyverse Operações básicas</vt:lpstr>
      <vt:lpstr>importação R Input Output</vt:lpstr>
      <vt:lpstr>Apresentação do PowerPoint</vt:lpstr>
      <vt:lpstr>R base x Pacotes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if / else  Condicionais</vt:lpstr>
      <vt:lpstr>Loops  Iterações</vt:lpstr>
      <vt:lpstr>Apresentação do PowerPoint</vt:lpstr>
      <vt:lpstr>Apresentação do PowerPoint</vt:lpstr>
      <vt:lpstr>Apresentação do PowerPoint</vt:lpstr>
      <vt:lpstr>Apresentação do PowerPoint</vt:lpstr>
      <vt:lpstr>Factual  Contrafactual</vt:lpstr>
      <vt:lpstr>Causa e Efeito</vt:lpstr>
      <vt:lpstr>CETERIS PARIBUS</vt:lpstr>
      <vt:lpstr>Censo e PNAD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dados com R</dc:title>
  <dc:creator>Victor Gabriel Alcantara</dc:creator>
  <cp:lastModifiedBy>Victor Gabriel Alcantara</cp:lastModifiedBy>
  <cp:revision>25</cp:revision>
  <dcterms:created xsi:type="dcterms:W3CDTF">2023-04-18T17:12:02Z</dcterms:created>
  <dcterms:modified xsi:type="dcterms:W3CDTF">2026-03-18T22:12:00Z</dcterms:modified>
</cp:coreProperties>
</file>